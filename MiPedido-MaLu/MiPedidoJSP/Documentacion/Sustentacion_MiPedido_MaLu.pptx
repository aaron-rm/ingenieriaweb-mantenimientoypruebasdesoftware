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Archivos</c:v>
                </c:pt>
              </c:strCache>
            </c:strRef>
          </c:tx>
          <c:spPr>
            <a:solidFill>
              <a:srgbClr val="E70C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JSP / JSPF</c:v>
                  </c:pt>
                  <c:pt idx="1">
                    <c:v>CSS</c:v>
                  </c:pt>
                  <c:pt idx="2">
                    <c:v>JavaScript</c:v>
                  </c:pt>
                  <c:pt idx="3">
                    <c:v>SQL</c:v>
                  </c:pt>
                  <c:pt idx="4">
                    <c:v>Imagenes</c:v>
                  </c:pt>
                  <c:pt idx="5">
                    <c:v>Config (web.xml)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9E9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a cargo de todo el equipo. Presentar brevemente el nombre del proyecto y el objetivo de la sustentacion (20 minutos: presentacion + demo en vivo).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se presenta brevemente por su nombre al llegar a esta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 Kakiyama: contexto del cliente (Restaurante MaLu) y el problema que motiva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 Kakiyama continua con los objetivos principales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Alexander Menese: explicar los 4 roles y que cada uno ve datos distintos, con algunos permisos compartidos jerarquicamente (GG incluye vistas de Supervisor, etc).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Rogelin Cortez: explicar las 4 capas y aclarar que no se uso ningun framework, solo HTML, CSS y JSP con scriptlets, tal como pidio el profesor.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Jose Rozette: recorrer el mapa de navegacion agrupado por rol; mencionar las vistas Beta bloqueadas.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Jose Rozette: 11 tablas relacionadas; destacar como pedidos/facturas guardan la seccion y el metodo de pago.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Rudymar Betancourt: explicar el flujo de pedido rapido antes de pasar a la demo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Rudymar Betancourt: cierra la seccion de wireframes conectando con la demo (mostrar ambas pantallas en vivo).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 Kakiyama: mencionar el listado completo de archivos vive en el trabajo escrito (seccion 4); aqui solo el resumen.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Alexander Menese: mostrar la paleta y como se cumplieron los requisitos de tipografia distinta en titulos y formularios.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Rogelin Cortez: resumir 4 de los 5 retos documentados en el trabajo escrito (seccion 6 tiene la tabla completa con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Jose Rozette: cerrar con la conclusion general y el punto mas dificil resuelto como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equipo participa en la demo: cada quien opera el rol que le toco (cashier, cocina, supervisor, etc).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miembro se prepara para responder una pregunta individual del profesor, sin apoyo del resto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B00A6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F4D761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D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TECNOLOGICA DE PANAMA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Ingenieria de Sistemas Computacionales  ·  Programacion de Software II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MiPedido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toma de pedidos para Restaurante MaLu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Sustentacion de proyecto final de semestre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663440"/>
            <a:ext cx="8503920" cy="1828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Facilitador: Paulo A. Picota C.        Grupo: 4 - 1SF133        Fecha: 07/07/2026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Integrantes del grupo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4584" y="2194560"/>
            <a:ext cx="2011680" cy="3200400"/>
          </a:xfrm>
          <a:prstGeom prst="rect">
            <a:avLst/>
          </a:prstGeom>
          <a:solidFill>
            <a:srgbClr val="FBF6E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7504" y="2514600"/>
            <a:ext cx="1005840" cy="1005840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6" name="Text 4"/>
          <p:cNvSpPr/>
          <p:nvPr/>
        </p:nvSpPr>
        <p:spPr>
          <a:xfrm>
            <a:off x="554584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64312" y="37033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Rudymar Betancourt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4312" y="45720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Cedula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20-70-8383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22296" y="2194560"/>
            <a:ext cx="2011680" cy="3200400"/>
          </a:xfrm>
          <a:prstGeom prst="rect">
            <a:avLst/>
          </a:prstGeom>
          <a:solidFill>
            <a:srgbClr val="FBF6E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5216" y="2514600"/>
            <a:ext cx="1005840" cy="1005840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11" name="Text 9"/>
          <p:cNvSpPr/>
          <p:nvPr/>
        </p:nvSpPr>
        <p:spPr>
          <a:xfrm>
            <a:off x="2822296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32024" y="37033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Kakiyama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32024" y="45720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Cedula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8-1025-1743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90008" y="2194560"/>
            <a:ext cx="2011680" cy="3200400"/>
          </a:xfrm>
          <a:prstGeom prst="rect">
            <a:avLst/>
          </a:prstGeom>
          <a:solidFill>
            <a:srgbClr val="FBF6E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92928" y="2514600"/>
            <a:ext cx="1005840" cy="1005840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16" name="Text 14"/>
          <p:cNvSpPr/>
          <p:nvPr/>
        </p:nvSpPr>
        <p:spPr>
          <a:xfrm>
            <a:off x="5090008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99736" y="37033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Menese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99736" y="45720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Cedula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8-1035-623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57720" y="2194560"/>
            <a:ext cx="2011680" cy="3200400"/>
          </a:xfrm>
          <a:prstGeom prst="rect">
            <a:avLst/>
          </a:prstGeom>
          <a:solidFill>
            <a:srgbClr val="FBF6E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0640" y="2514600"/>
            <a:ext cx="1005840" cy="1005840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21" name="Text 19"/>
          <p:cNvSpPr/>
          <p:nvPr/>
        </p:nvSpPr>
        <p:spPr>
          <a:xfrm>
            <a:off x="7357720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67448" y="37033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Rogelin Cortez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67448" y="45720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Cedula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9-766-2330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25432" y="2194560"/>
            <a:ext cx="2011680" cy="3200400"/>
          </a:xfrm>
          <a:prstGeom prst="rect">
            <a:avLst/>
          </a:prstGeom>
          <a:solidFill>
            <a:srgbClr val="FBF6E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28352" y="2514600"/>
            <a:ext cx="1005840" cy="1005840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26" name="Text 24"/>
          <p:cNvSpPr/>
          <p:nvPr/>
        </p:nvSpPr>
        <p:spPr>
          <a:xfrm>
            <a:off x="9625432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JR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735160" y="37033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Rozette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35160" y="45720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Cedula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8-1025-306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Ingenieria de Sistemas Computacionales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en el Restaurante MaLu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toma de pedidos se maneja hoy de forma manual: los meseros anotan en papel, la comunicacion con la cocina es lenta, y no hay forma clara de diferenciar los metodos de pago ni las ventas entre el area de Restaurante y el area de Bar.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691640"/>
            <a:ext cx="822960" cy="822960"/>
          </a:xfrm>
          <a:prstGeom prst="ellipse">
            <a:avLst/>
          </a:prstGeom>
          <a:solidFill>
            <a:srgbClr val="FFF8D9"/>
          </a:solidFill>
          <a:ln w="19050">
            <a:solidFill>
              <a:srgbClr val="F4D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0C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35240" y="1691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2743200"/>
            <a:ext cx="822960" cy="822960"/>
          </a:xfrm>
          <a:prstGeom prst="ellipse">
            <a:avLst/>
          </a:prstGeom>
          <a:solidFill>
            <a:srgbClr val="FFF8D9"/>
          </a:solidFill>
          <a:ln w="19050">
            <a:solidFill>
              <a:srgbClr val="F4D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0C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35240" y="2743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(Restaurante / Bar)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3794760"/>
            <a:ext cx="822960" cy="822960"/>
          </a:xfrm>
          <a:prstGeom prst="ellipse">
            <a:avLst/>
          </a:prstGeom>
          <a:solidFill>
            <a:srgbClr val="FFF8D9"/>
          </a:solidFill>
          <a:ln w="19050">
            <a:solidFill>
              <a:srgbClr val="F4D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0C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35240" y="3794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metodos de pago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resuelve MiPedido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051560"/>
          </a:xfrm>
          <a:prstGeom prst="rect">
            <a:avLst/>
          </a:prstGeom>
          <a:solidFill>
            <a:srgbClr val="FBF6E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6252"/>
            <a:ext cx="402336" cy="402336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62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agil de pedidos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rapido o por mesa, con comensales individuales.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120640" cy="1051560"/>
          </a:xfrm>
          <a:prstGeom prst="rect">
            <a:avLst/>
          </a:prstGeom>
          <a:solidFill>
            <a:srgbClr val="FBF6E9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2016252"/>
            <a:ext cx="402336" cy="402336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162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1801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 con cocina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58000" y="2148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pedidos llegan automaticamente y notifican cuando estan listos.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5120640" cy="1051560"/>
          </a:xfrm>
          <a:prstGeom prst="rect">
            <a:avLst/>
          </a:prstGeom>
          <a:solidFill>
            <a:srgbClr val="FBF6E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342132"/>
            <a:ext cx="402336" cy="402336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421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127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474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ve solo las vistas y acciones que le corresponden.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017520"/>
            <a:ext cx="5120640" cy="1051560"/>
          </a:xfrm>
          <a:prstGeom prst="rect">
            <a:avLst/>
          </a:prstGeom>
          <a:solidFill>
            <a:srgbClr val="FBF6E9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3342132"/>
            <a:ext cx="402336" cy="402336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3421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3127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diferenciado por seccion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58000" y="3474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Efectivo, yappy y tarjeta, separados entre Restaurante y Bar.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D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roles, cuatro experiencias distintas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2288" y="2103120"/>
            <a:ext cx="2606040" cy="3017520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5" name="Shape 3"/>
          <p:cNvSpPr/>
          <p:nvPr/>
        </p:nvSpPr>
        <p:spPr>
          <a:xfrm>
            <a:off x="1455268" y="2423160"/>
            <a:ext cx="640080" cy="640080"/>
          </a:xfrm>
          <a:prstGeom prst="ellipse">
            <a:avLst/>
          </a:prstGeom>
          <a:solidFill>
            <a:srgbClr val="F4D761"/>
          </a:solidFill>
          <a:ln/>
        </p:spPr>
      </p:sp>
      <p:sp>
        <p:nvSpPr>
          <p:cNvPr id="6" name="Text 4"/>
          <p:cNvSpPr/>
          <p:nvPr/>
        </p:nvSpPr>
        <p:spPr>
          <a:xfrm>
            <a:off x="145526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3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448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General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5168" y="3840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 + reportes y graficas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52648" y="2103120"/>
            <a:ext cx="2606040" cy="3017520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10" name="Shape 8"/>
          <p:cNvSpPr/>
          <p:nvPr/>
        </p:nvSpPr>
        <p:spPr>
          <a:xfrm>
            <a:off x="4335628" y="2423160"/>
            <a:ext cx="640080" cy="640080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11" name="Text 9"/>
          <p:cNvSpPr/>
          <p:nvPr/>
        </p:nvSpPr>
        <p:spPr>
          <a:xfrm>
            <a:off x="433562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89808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35528" y="3840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 diaria, menu, empleados, secciones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3008" y="2103120"/>
            <a:ext cx="2606040" cy="3017520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15" name="Shape 13"/>
          <p:cNvSpPr/>
          <p:nvPr/>
        </p:nvSpPr>
        <p:spPr>
          <a:xfrm>
            <a:off x="7215988" y="2423160"/>
            <a:ext cx="640080" cy="640080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16" name="Text 14"/>
          <p:cNvSpPr/>
          <p:nvPr/>
        </p:nvSpPr>
        <p:spPr>
          <a:xfrm>
            <a:off x="721598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70168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5888" y="3840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Ordenes, mesas y diario de ventas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13368" y="2103120"/>
            <a:ext cx="2606040" cy="3017520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96348" y="2423160"/>
            <a:ext cx="640080" cy="640080"/>
          </a:xfrm>
          <a:prstGeom prst="ellipse">
            <a:avLst/>
          </a:prstGeom>
          <a:solidFill>
            <a:srgbClr val="E70C8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9634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50528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Comandas (Chef)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96248" y="3840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cocina en fila FIFO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TECNOLOGICA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esta construido MiPedido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743200" cy="960120"/>
          </a:xfrm>
          <a:prstGeom prst="rect">
            <a:avLst/>
          </a:prstGeom>
          <a:solidFill>
            <a:srgbClr val="E70C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20440" y="1737360"/>
            <a:ext cx="8001000" cy="960120"/>
          </a:xfrm>
          <a:prstGeom prst="rect">
            <a:avLst/>
          </a:prstGeom>
          <a:solidFill>
            <a:srgbClr val="FBF6E9"/>
          </a:solidFill>
          <a:ln/>
        </p:spPr>
      </p:sp>
      <p:sp>
        <p:nvSpPr>
          <p:cNvPr id="7" name="Text 5"/>
          <p:cNvSpPr/>
          <p:nvPr/>
        </p:nvSpPr>
        <p:spPr>
          <a:xfrm>
            <a:off x="3703320" y="18105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03320" y="21762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section, header, nav, footer + Flexbox/Grid + responsive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2743200" cy="96012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0720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20440" y="2807208"/>
            <a:ext cx="8001000" cy="960120"/>
          </a:xfrm>
          <a:prstGeom prst="rect">
            <a:avLst/>
          </a:prstGeom>
          <a:solidFill>
            <a:srgbClr val="FBF6E9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880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 (scriptlets)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03320" y="3246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 reutilizables (.jspf) para sesion, conexion y layout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77056"/>
            <a:ext cx="2743200" cy="960120"/>
          </a:xfrm>
          <a:prstGeom prst="rect">
            <a:avLst/>
          </a:prstGeom>
          <a:solidFill>
            <a:srgbClr val="E70C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7705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20440" y="3877056"/>
            <a:ext cx="8001000" cy="960120"/>
          </a:xfrm>
          <a:prstGeom prst="rect">
            <a:avLst/>
          </a:prstGeom>
          <a:solidFill>
            <a:srgbClr val="FBF6E9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39502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JDBC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03320" y="43159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tablas, acceso mediante PreparedStatement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946904"/>
            <a:ext cx="2743200" cy="96012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4690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20440" y="4946904"/>
            <a:ext cx="8001000" cy="960120"/>
          </a:xfrm>
          <a:prstGeom prst="rect">
            <a:avLst/>
          </a:prstGeom>
          <a:solidFill>
            <a:srgbClr val="FBF6E9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50200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10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03320" y="53858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JSP; MySQL administrado aparte via XAMPP/phpMyAdmin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1 DE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del sitio</a:t>
            </a:r>
            <a:endParaRPr lang="en-US" sz="2800" dirty="0"/>
          </a:p>
        </p:txBody>
      </p:sp>
      <p:pic>
        <p:nvPicPr>
          <p:cNvPr id="4" name="Image 0" descr="/sessions/blissful-loving-gates/mnt/output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951" y="1325880"/>
            <a:ext cx="4235794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2 DE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la base de datos</a:t>
            </a:r>
            <a:endParaRPr lang="en-US" sz="2800" dirty="0"/>
          </a:p>
        </p:txBody>
      </p:sp>
      <p:pic>
        <p:nvPicPr>
          <p:cNvPr id="4" name="Image 0" descr="/sessions/blissful-loving-gates/mnt/outputs/erd_base_da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583" y="1234440"/>
            <a:ext cx="969453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PANTALLA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ordenes.jsp — Pedido rapido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principal del Cashier: categorias y productos de su seccion, ticket en curso, envio a cocina y cobro.</a:t>
            </a:r>
            <a:endParaRPr lang="en-US" sz="1300" dirty="0"/>
          </a:p>
        </p:txBody>
      </p:sp>
      <p:pic>
        <p:nvPicPr>
          <p:cNvPr id="5" name="Image 0" descr="/sessions/blissful-loving-gates/mnt/outputs/wf5_orde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9974" y="1691640"/>
            <a:ext cx="6651747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PANTALLA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comandas.jsp — Tablero de cocina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en fila FIFO; cada plato se tacha al prepararse y el ticket completo cambia a “listo”.</a:t>
            </a:r>
            <a:endParaRPr lang="en-US" sz="1300" dirty="0"/>
          </a:p>
        </p:txBody>
      </p:sp>
      <p:pic>
        <p:nvPicPr>
          <p:cNvPr id="5" name="Image 0" descr="/sessions/blissful-loving-gates/mnt/outputs/wf7_comand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9974" y="1691640"/>
            <a:ext cx="6651747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archivos del proyecto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965960"/>
            <a:ext cx="109728" cy="109728"/>
          </a:xfrm>
          <a:prstGeom prst="ellipse">
            <a:avLst/>
          </a:prstGeom>
          <a:solidFill>
            <a:srgbClr val="F4D761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 reutilizables (.jspf) para sesion, conexion, header y footer.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406640" y="2834640"/>
            <a:ext cx="109728" cy="109728"/>
          </a:xfrm>
          <a:prstGeom prst="ellipse">
            <a:avLst/>
          </a:prstGeom>
          <a:solidFill>
            <a:srgbClr val="F4D761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0" y="2651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hoja de estilos principal + una especifica para las pantallas de acceso.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06640" y="3703320"/>
            <a:ext cx="109728" cy="109728"/>
          </a:xfrm>
          <a:prstGeom prst="ellipse">
            <a:avLst/>
          </a:prstGeom>
          <a:solidFill>
            <a:srgbClr val="F4D761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cada 8s para notificar comandas listas al cashier.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VISUAL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de marca del sitio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77240" cy="777240"/>
          </a:xfrm>
          <a:prstGeom prst="ellipse">
            <a:avLst/>
          </a:prstGeom>
          <a:solidFill>
            <a:srgbClr val="E70C8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606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57400" y="1783080"/>
            <a:ext cx="777240" cy="777240"/>
          </a:xfrm>
          <a:prstGeom prst="ellipse">
            <a:avLst/>
          </a:prstGeom>
          <a:solidFill>
            <a:srgbClr val="38383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606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783080"/>
            <a:ext cx="777240" cy="777240"/>
          </a:xfrm>
          <a:prstGeom prst="ellipse">
            <a:avLst/>
          </a:prstGeom>
          <a:solidFill>
            <a:srgbClr val="F4D76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606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783080"/>
            <a:ext cx="777240" cy="777240"/>
          </a:xfrm>
          <a:prstGeom prst="ellipse">
            <a:avLst/>
          </a:prstGeom>
          <a:solidFill>
            <a:srgbClr val="FFF8D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606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777240" cy="777240"/>
          </a:xfrm>
          <a:prstGeom prst="ellipse">
            <a:avLst/>
          </a:prstGeom>
          <a:solidFill>
            <a:srgbClr val="E26661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606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10881360" cy="685800"/>
          </a:xfrm>
          <a:prstGeom prst="rect">
            <a:avLst/>
          </a:prstGeom>
          <a:solidFill>
            <a:srgbClr val="FBF6E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66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0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566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Poppins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03520" y="35661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distinta al cuerpo (requisito)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10881360" cy="685800"/>
          </a:xfrm>
          <a:prstGeom prst="rect">
            <a:avLst/>
          </a:prstGeom>
          <a:solidFill>
            <a:srgbClr val="FBF6E9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389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0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4389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0" y="43891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general de la pagina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10881360" cy="685800"/>
          </a:xfrm>
          <a:prstGeom prst="rect">
            <a:avLst/>
          </a:prstGeom>
          <a:solidFill>
            <a:srgbClr val="FBF6E9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12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0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34640" y="5212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Roboto Mono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03520" y="52120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y color (rosa) distintos al body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D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 y dificultades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143000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D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Tomcat de XAMPP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30428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Documentamos e instalamos Apache Tomcat aparte para correr JSP.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828800"/>
            <a:ext cx="5120640" cy="1143000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D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cocina sin frameworks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55080" y="230428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en JavaScript puro cada 8 segundos.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120640" cy="1143000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10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D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diferenciados por seccion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67588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id_seccion en pedidos y facturas.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5120640" cy="1143000"/>
          </a:xfrm>
          <a:prstGeom prst="rect">
            <a:avLst/>
          </a:prstGeom>
          <a:solidFill>
            <a:srgbClr val="434343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310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D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preparar un plato dos veces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367588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preparado por item, tachable individualmente.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B00A6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D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MiPedido cubre el flujo completo de un pedido -registro, cocina, cobro y facturacion- respetando los roles definidos por el Restaurante MaLu, usando exclusivamente HTML, CSS y JSP con scriptlets.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0424160" cy="1920240"/>
          </a:xfrm>
          <a:prstGeom prst="rect">
            <a:avLst/>
          </a:prstGeom>
          <a:solidFill>
            <a:srgbClr val="3E3E3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MAS DIFICIL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Lograr que la cocina y el cashier se sintieran sincronizados en tiempo real sin poder usar frameworks, MVC ni WebSockets — solo scriptlets JSP y polling en JavaScript puro.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70C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continuacion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8346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Demostracion en vivo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rol  ·  Pedido rapido  ·  Envio a cocina  ·  Comandas  ·  Cobro y factura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4D761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0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Rudymar Betancourt   ·   Kevin Kakiyama   ·   Alexander Menese   ·   Rogelin Cortez   ·   Jose Rozette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2026-07-07T15:41:17Z</dcterms:created>
  <dcterms:modified xsi:type="dcterms:W3CDTF">2026-07-07T15:41:17Z</dcterms:modified>
</cp:coreProperties>
</file>