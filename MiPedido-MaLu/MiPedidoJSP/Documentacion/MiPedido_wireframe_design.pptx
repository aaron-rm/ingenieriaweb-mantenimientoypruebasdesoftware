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del sistema de pedidos MaLu. Paleta de marca: rosa #e70c88 como principal, gris oscuro #383838 para texto, amarillo #f4d761 como acento, crema #fff8d9 para fondos. Bilingüe ES/EN.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con selección de rol explícita. Gerente General ve todo (incluye módulos beta). Supervisor ve gestión sin reportes financieros. Cashier toma pedidos y cobra. Comandas solo ve la cocina. Las marcas β en la matriz son vistas que existen pero están bloqueadas en esta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 — grilla por categorías. Layout clásico de POS: sidebar de navegación, header con búsqueda y selector de sección, chips de categorías, sub-categorías, grilla de productos con foto+precio. Ticket a la derecha con cantidades editables, notas y dos acciones: Enviar a cocina y Cobrar. Esta es la vista por defecto al entrar a Órdenes.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B — enfoque velocidad. Búsqueda omnipresente arriba grande para teclear o escanear. Fila de más vendidos (1 toque para agregar). Categorías más planas. Ticket compacto sobre fondo oscuro para alto contraste. Meta: agregar un producto en 1-2 toques.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principal del salón. Cada mesa es una baldosa: libre (blanco) u ocupada (rosa con monto). Tap abre el detalle a la derecha con cuenta separada por comensal (C1, C2, C3...). Cada comensal lleva su propia lista de productos y se cobra individualmente.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de cocina — variante A: fila de tarjetas. Cada tarjeta es una comanda con sus platos individuales como checkboxes. Tachar plato = ya preparado (evita doble preparación). El borde superior indica antigüedad (rosa = más viejo). Estado por comanda: En proceso o Listo. Al marcar Listo, sale de la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de cocina — variante B: tablero tipo kanban. Dos columnas: En proceso (lo que la cocina trabaja ahora) y Listo (lo que el cashier debe recoger). Misma mecánica de tachar plato individual. Las comandas en Listo desaparecen al confirmar entrega. Más fácil de escanear cuando hay mucho volumen.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Diario de ventas del turno. KPIs arriba: facturas, total y desglose por método. Tabla con cada factura. Yappy se diferencia por departamento (Restaurante/Bar), igual que efectivo y otros métodos. Acciones por fila: Ver y Imprimir. Cashier ve solo su turno; Supervisor y Gerente ven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Secciones — Bar y Restaurante. Cada una tiene sus propias categorías y usuarios asignados. La sección de un cashier reordena su pedido rápido para que sus categorías salgan primero, pero sigue viendo las demás. En la fase beta todos los cashiers van a Restaurante.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flujo end-to-end del sistema y jerarquía del menú. La jerarquía Sección → Categoría → Sub-categoría → Producto ordena la carta y acelera la búsqueda al tomar pedidos. Ejemplo: Restaurante → Alimentos → Mariscos → Corvina.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530816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b="1" spc="-225" kern="0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MiPedido</a:t>
            </a:r>
            <a:pPr algn="l" indent="0" marL="0">
              <a:lnSpc>
                <a:spcPct val="90000"/>
              </a:lnSpc>
              <a:buNone/>
            </a:pPr>
            <a:r>
              <a:rPr lang="en-US" sz="9000" b="1" spc="-225" kern="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159103" y="1181100"/>
            <a:ext cx="40574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— Restaurante MaLu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159103" y="1498600"/>
            <a:ext cx="40574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toma de pedidos · bilingüe ES/EN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47750" y="2362200"/>
            <a:ext cx="2857500" cy="47625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981325"/>
            <a:ext cx="85915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13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MARCA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7750" y="3368675"/>
            <a:ext cx="1319709" cy="488950"/>
          </a:xfrm>
          <a:prstGeom prst="roundRect">
            <a:avLst>
              <a:gd name="adj" fmla="val 1948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6500" y="34798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70C88"/>
          </a:solidFill>
          <a:ln/>
        </p:spPr>
      </p:sp>
      <p:sp>
        <p:nvSpPr>
          <p:cNvPr id="9" name="Text 7"/>
          <p:cNvSpPr/>
          <p:nvPr/>
        </p:nvSpPr>
        <p:spPr>
          <a:xfrm>
            <a:off x="1568450" y="352742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#e70c88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00809" y="3368675"/>
            <a:ext cx="1319709" cy="488950"/>
          </a:xfrm>
          <a:prstGeom prst="roundRect">
            <a:avLst>
              <a:gd name="adj" fmla="val 1948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9559" y="34798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383838"/>
          </a:solidFill>
          <a:ln/>
        </p:spPr>
      </p:sp>
      <p:sp>
        <p:nvSpPr>
          <p:cNvPr id="12" name="Text 10"/>
          <p:cNvSpPr/>
          <p:nvPr/>
        </p:nvSpPr>
        <p:spPr>
          <a:xfrm>
            <a:off x="3021509" y="352742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#383838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53867" y="3368675"/>
            <a:ext cx="1319709" cy="488950"/>
          </a:xfrm>
          <a:prstGeom prst="roundRect">
            <a:avLst>
              <a:gd name="adj" fmla="val 1948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2617" y="34798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4D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474567" y="352742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#f4d761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47750" y="3990975"/>
            <a:ext cx="1332409" cy="501650"/>
          </a:xfrm>
          <a:prstGeom prst="roundRect">
            <a:avLst>
              <a:gd name="adj" fmla="val 18987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6500" y="4102100"/>
            <a:ext cx="279400" cy="279400"/>
          </a:xfrm>
          <a:prstGeom prst="roundRect">
            <a:avLst>
              <a:gd name="adj" fmla="val 20455"/>
            </a:avLst>
          </a:prstGeom>
          <a:solidFill>
            <a:srgbClr val="FFF8D9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150" y="415607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#fff8d9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3509" y="3990975"/>
            <a:ext cx="1319709" cy="501650"/>
          </a:xfrm>
          <a:prstGeom prst="roundRect">
            <a:avLst>
              <a:gd name="adj" fmla="val 18987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2259" y="41084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D9FBD"/>
          </a:solidFill>
          <a:ln/>
        </p:spPr>
      </p:sp>
      <p:sp>
        <p:nvSpPr>
          <p:cNvPr id="21" name="Text 19"/>
          <p:cNvSpPr/>
          <p:nvPr/>
        </p:nvSpPr>
        <p:spPr>
          <a:xfrm>
            <a:off x="3034209" y="415607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#ed9fbd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66567" y="3990975"/>
            <a:ext cx="1319709" cy="501650"/>
          </a:xfrm>
          <a:prstGeom prst="roundRect">
            <a:avLst>
              <a:gd name="adj" fmla="val 18987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25317" y="41084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26661"/>
          </a:solidFill>
          <a:ln/>
        </p:spPr>
      </p:sp>
      <p:sp>
        <p:nvSpPr>
          <p:cNvPr id="24" name="Text 22"/>
          <p:cNvSpPr/>
          <p:nvPr/>
        </p:nvSpPr>
        <p:spPr>
          <a:xfrm>
            <a:off x="4487267" y="415607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#e26661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7750" y="4625975"/>
            <a:ext cx="1319709" cy="488950"/>
          </a:xfrm>
          <a:prstGeom prst="roundRect">
            <a:avLst>
              <a:gd name="adj" fmla="val 1948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6500" y="47371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7EB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8450" y="478472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#f7eb1c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00809" y="4625975"/>
            <a:ext cx="1319709" cy="488950"/>
          </a:xfrm>
          <a:prstGeom prst="roundRect">
            <a:avLst>
              <a:gd name="adj" fmla="val 1948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9559" y="47371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746C2C"/>
          </a:solidFill>
          <a:ln/>
        </p:spPr>
      </p:sp>
      <p:sp>
        <p:nvSpPr>
          <p:cNvPr id="30" name="Text 28"/>
          <p:cNvSpPr/>
          <p:nvPr/>
        </p:nvSpPr>
        <p:spPr>
          <a:xfrm>
            <a:off x="3021509" y="4784725"/>
            <a:ext cx="7164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#746c2c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0" y="2981325"/>
            <a:ext cx="85915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13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29750" y="3368675"/>
            <a:ext cx="7810500" cy="2470150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21850" y="4010025"/>
            <a:ext cx="72263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34" name="Text 32"/>
          <p:cNvSpPr/>
          <p:nvPr/>
        </p:nvSpPr>
        <p:spPr>
          <a:xfrm>
            <a:off x="9721850" y="3717925"/>
            <a:ext cx="16982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Acceso &amp; Roles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523891" y="3733800"/>
            <a:ext cx="5004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slides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21850" y="4403725"/>
            <a:ext cx="72263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37" name="Text 35"/>
          <p:cNvSpPr/>
          <p:nvPr/>
        </p:nvSpPr>
        <p:spPr>
          <a:xfrm>
            <a:off x="9721850" y="4111625"/>
            <a:ext cx="23554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Toma de pedido (tablet)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6524089" y="4127500"/>
            <a:ext cx="5002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slides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21850" y="4797425"/>
            <a:ext cx="72263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0" name="Text 38"/>
          <p:cNvSpPr/>
          <p:nvPr/>
        </p:nvSpPr>
        <p:spPr>
          <a:xfrm>
            <a:off x="9721850" y="4505325"/>
            <a:ext cx="20963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Comandas (monitor)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6523891" y="4521200"/>
            <a:ext cx="5004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slides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21850" y="5191125"/>
            <a:ext cx="72263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3" name="Text 41"/>
          <p:cNvSpPr/>
          <p:nvPr/>
        </p:nvSpPr>
        <p:spPr>
          <a:xfrm>
            <a:off x="9721850" y="4899025"/>
            <a:ext cx="101014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Gestión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6523891" y="4914900"/>
            <a:ext cx="5004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slides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721850" y="5292725"/>
            <a:ext cx="172966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Flujo y jerarquía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606045" y="5308600"/>
            <a:ext cx="4183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slide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 rot="-90000">
            <a:off x="14230351" y="1143000"/>
            <a:ext cx="3200399" cy="1457325"/>
          </a:xfrm>
          <a:prstGeom prst="roundRect">
            <a:avLst>
              <a:gd name="adj" fmla="val 3922"/>
            </a:avLst>
          </a:prstGeom>
          <a:solidFill>
            <a:srgbClr val="F4D761"/>
          </a:solidFill>
          <a:ln/>
          <a:effectLst>
            <a:outerShdw sx="100000" sy="100000" kx="0" ky="0" algn="bl" rotWithShape="0" blurRad="133350" dist="381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4484417" y="1336864"/>
            <a:ext cx="2773035" cy="1107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= estructura y flujo, no diseño final.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3585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Acceso &amp; Roles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306987" y="679450"/>
            <a:ext cx="1753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Access &amp; Roles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1428750"/>
            <a:ext cx="5448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selección de rol </a:t>
            </a:r>
            <a:pPr algn="l" indent="0" marL="0">
              <a:buNone/>
            </a:pPr>
            <a:r>
              <a:rPr lang="en-US" sz="12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Tablet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7250" y="1714500"/>
            <a:ext cx="4953000" cy="5673725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3600" y="1720850"/>
            <a:ext cx="4940300" cy="952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1816100"/>
            <a:ext cx="4940300" cy="5565775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9" name="Text 7"/>
          <p:cNvSpPr/>
          <p:nvPr/>
        </p:nvSpPr>
        <p:spPr>
          <a:xfrm>
            <a:off x="1098550" y="2292350"/>
            <a:ext cx="447040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75" kern="0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MiPedido</a:t>
            </a:r>
            <a:pPr algn="ctr" indent="0" marL="0">
              <a:buNone/>
            </a:pPr>
            <a:r>
              <a:rPr lang="en-US" sz="3300" b="1" spc="-75" kern="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98550" y="2774950"/>
            <a:ext cx="44704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13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MALU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01750" y="3263900"/>
            <a:ext cx="4470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· User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01750" y="3492500"/>
            <a:ext cx="4064000" cy="48895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9550" y="3498850"/>
            <a:ext cx="383032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usuario@malu.com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301750" y="4133850"/>
            <a:ext cx="4470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· Password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01750" y="4362450"/>
            <a:ext cx="4064000" cy="48895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9550" y="4368800"/>
            <a:ext cx="383032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300" kern="0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301750" y="5099050"/>
            <a:ext cx="4064000" cy="533400"/>
          </a:xfrm>
          <a:prstGeom prst="roundRect">
            <a:avLst>
              <a:gd name="adj" fmla="val 21429"/>
            </a:avLst>
          </a:prstGeom>
          <a:solidFill>
            <a:srgbClr val="E70C88"/>
          </a:solidFill>
          <a:ln/>
        </p:spPr>
      </p:sp>
      <p:sp>
        <p:nvSpPr>
          <p:cNvPr id="18" name="Text 16"/>
          <p:cNvSpPr/>
          <p:nvPr/>
        </p:nvSpPr>
        <p:spPr>
          <a:xfrm>
            <a:off x="1240790" y="5099050"/>
            <a:ext cx="41859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· Sign in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01750" y="5918200"/>
            <a:ext cx="44704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DEFINE QUÉ VISTAS SE CARGAN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301750" y="6178550"/>
            <a:ext cx="1285478" cy="349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0C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7800" y="6276975"/>
            <a:ext cx="10695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General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72953" y="6178550"/>
            <a:ext cx="912813" cy="349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2653" y="6270625"/>
            <a:ext cx="7096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71491" y="6178550"/>
            <a:ext cx="735906" cy="349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1191" y="6270625"/>
            <a:ext cx="5327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01750" y="6613525"/>
            <a:ext cx="921445" cy="349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1450" y="6705600"/>
            <a:ext cx="7182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150" y="1428750"/>
            <a:ext cx="1240536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permisos — qué vista ve cada quién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53150" y="1701800"/>
            <a:ext cx="11277600" cy="6954639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02400" y="2051050"/>
            <a:ext cx="317056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/ VIEW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653489" y="2051050"/>
            <a:ext cx="183792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1529517" y="2051050"/>
            <a:ext cx="183792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3405545" y="2051050"/>
            <a:ext cx="183792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5281573" y="2051050"/>
            <a:ext cx="183802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445250" y="229235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36" name="Text 34"/>
          <p:cNvSpPr/>
          <p:nvPr/>
        </p:nvSpPr>
        <p:spPr>
          <a:xfrm>
            <a:off x="6502400" y="242252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· Orders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634439" y="22923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38" name="Text 36"/>
          <p:cNvSpPr/>
          <p:nvPr/>
        </p:nvSpPr>
        <p:spPr>
          <a:xfrm>
            <a:off x="9653489" y="24225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1510467" y="22923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0" name="Text 38"/>
          <p:cNvSpPr/>
          <p:nvPr/>
        </p:nvSpPr>
        <p:spPr>
          <a:xfrm>
            <a:off x="11529517" y="24225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13386495" y="22923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2" name="Text 40"/>
          <p:cNvSpPr/>
          <p:nvPr/>
        </p:nvSpPr>
        <p:spPr>
          <a:xfrm>
            <a:off x="13405545" y="24225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15262523" y="229235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4" name="Text 42"/>
          <p:cNvSpPr/>
          <p:nvPr/>
        </p:nvSpPr>
        <p:spPr>
          <a:xfrm>
            <a:off x="15281573" y="242252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6445250" y="273050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6" name="Text 44"/>
          <p:cNvSpPr/>
          <p:nvPr/>
        </p:nvSpPr>
        <p:spPr>
          <a:xfrm>
            <a:off x="6502400" y="286067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 (cocina)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9634439" y="27305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8" name="Text 46"/>
          <p:cNvSpPr/>
          <p:nvPr/>
        </p:nvSpPr>
        <p:spPr>
          <a:xfrm>
            <a:off x="9653489" y="28606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11510467" y="27305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0" name="Text 48"/>
          <p:cNvSpPr/>
          <p:nvPr/>
        </p:nvSpPr>
        <p:spPr>
          <a:xfrm>
            <a:off x="11529517" y="28606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13386495" y="27305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2" name="Text 50"/>
          <p:cNvSpPr/>
          <p:nvPr/>
        </p:nvSpPr>
        <p:spPr>
          <a:xfrm>
            <a:off x="13405545" y="28606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15262523" y="273050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4" name="Text 52"/>
          <p:cNvSpPr/>
          <p:nvPr/>
        </p:nvSpPr>
        <p:spPr>
          <a:xfrm>
            <a:off x="15281573" y="286067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6445250" y="316865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6" name="Text 54"/>
          <p:cNvSpPr/>
          <p:nvPr/>
        </p:nvSpPr>
        <p:spPr>
          <a:xfrm>
            <a:off x="6502400" y="329882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9634439" y="31686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8" name="Text 56"/>
          <p:cNvSpPr/>
          <p:nvPr/>
        </p:nvSpPr>
        <p:spPr>
          <a:xfrm>
            <a:off x="9653489" y="32988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11510467" y="31686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0" name="Text 58"/>
          <p:cNvSpPr/>
          <p:nvPr/>
        </p:nvSpPr>
        <p:spPr>
          <a:xfrm>
            <a:off x="11529517" y="32988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3386495" y="31686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2" name="Text 60"/>
          <p:cNvSpPr/>
          <p:nvPr/>
        </p:nvSpPr>
        <p:spPr>
          <a:xfrm>
            <a:off x="13405545" y="32988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15262523" y="316865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4" name="Text 62"/>
          <p:cNvSpPr/>
          <p:nvPr/>
        </p:nvSpPr>
        <p:spPr>
          <a:xfrm>
            <a:off x="15281573" y="329882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6445250" y="360680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6" name="Text 64"/>
          <p:cNvSpPr/>
          <p:nvPr/>
        </p:nvSpPr>
        <p:spPr>
          <a:xfrm>
            <a:off x="6502400" y="373697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9634439" y="36068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8" name="Text 66"/>
          <p:cNvSpPr/>
          <p:nvPr/>
        </p:nvSpPr>
        <p:spPr>
          <a:xfrm>
            <a:off x="9653489" y="37369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69" name="Shape 67"/>
          <p:cNvSpPr/>
          <p:nvPr/>
        </p:nvSpPr>
        <p:spPr>
          <a:xfrm>
            <a:off x="11510467" y="36068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0" name="Text 68"/>
          <p:cNvSpPr/>
          <p:nvPr/>
        </p:nvSpPr>
        <p:spPr>
          <a:xfrm>
            <a:off x="11529517" y="37369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125" dirty="0"/>
          </a:p>
        </p:txBody>
      </p:sp>
      <p:sp>
        <p:nvSpPr>
          <p:cNvPr id="71" name="Shape 69"/>
          <p:cNvSpPr/>
          <p:nvPr/>
        </p:nvSpPr>
        <p:spPr>
          <a:xfrm>
            <a:off x="13386495" y="36068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2" name="Text 70"/>
          <p:cNvSpPr/>
          <p:nvPr/>
        </p:nvSpPr>
        <p:spPr>
          <a:xfrm>
            <a:off x="13405545" y="37369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73" name="Shape 71"/>
          <p:cNvSpPr/>
          <p:nvPr/>
        </p:nvSpPr>
        <p:spPr>
          <a:xfrm>
            <a:off x="15262523" y="360680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4" name="Text 72"/>
          <p:cNvSpPr/>
          <p:nvPr/>
        </p:nvSpPr>
        <p:spPr>
          <a:xfrm>
            <a:off x="15281573" y="373697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6445250" y="404495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6" name="Text 74"/>
          <p:cNvSpPr/>
          <p:nvPr/>
        </p:nvSpPr>
        <p:spPr>
          <a:xfrm>
            <a:off x="6502400" y="417512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9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· gráficas</a:t>
            </a:r>
            <a:endParaRPr lang="en-US" sz="1125" dirty="0"/>
          </a:p>
        </p:txBody>
      </p:sp>
      <p:sp>
        <p:nvSpPr>
          <p:cNvPr id="77" name="Shape 75"/>
          <p:cNvSpPr/>
          <p:nvPr/>
        </p:nvSpPr>
        <p:spPr>
          <a:xfrm>
            <a:off x="9634439" y="40449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8" name="Text 76"/>
          <p:cNvSpPr/>
          <p:nvPr/>
        </p:nvSpPr>
        <p:spPr>
          <a:xfrm>
            <a:off x="9653489" y="41751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25" dirty="0"/>
          </a:p>
        </p:txBody>
      </p:sp>
      <p:sp>
        <p:nvSpPr>
          <p:cNvPr id="79" name="Shape 77"/>
          <p:cNvSpPr/>
          <p:nvPr/>
        </p:nvSpPr>
        <p:spPr>
          <a:xfrm>
            <a:off x="11510467" y="40449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0" name="Text 78"/>
          <p:cNvSpPr/>
          <p:nvPr/>
        </p:nvSpPr>
        <p:spPr>
          <a:xfrm>
            <a:off x="11529517" y="41751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81" name="Shape 79"/>
          <p:cNvSpPr/>
          <p:nvPr/>
        </p:nvSpPr>
        <p:spPr>
          <a:xfrm>
            <a:off x="13386495" y="40449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2" name="Text 80"/>
          <p:cNvSpPr/>
          <p:nvPr/>
        </p:nvSpPr>
        <p:spPr>
          <a:xfrm>
            <a:off x="13405545" y="41751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15262523" y="404495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4" name="Text 82"/>
          <p:cNvSpPr/>
          <p:nvPr/>
        </p:nvSpPr>
        <p:spPr>
          <a:xfrm>
            <a:off x="15281573" y="417512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85" name="Shape 83"/>
          <p:cNvSpPr/>
          <p:nvPr/>
        </p:nvSpPr>
        <p:spPr>
          <a:xfrm>
            <a:off x="6445250" y="448310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6" name="Text 84"/>
          <p:cNvSpPr/>
          <p:nvPr/>
        </p:nvSpPr>
        <p:spPr>
          <a:xfrm>
            <a:off x="6502400" y="461327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9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· Compras</a:t>
            </a:r>
            <a:endParaRPr lang="en-US" sz="1125" dirty="0"/>
          </a:p>
        </p:txBody>
      </p:sp>
      <p:sp>
        <p:nvSpPr>
          <p:cNvPr id="87" name="Shape 85"/>
          <p:cNvSpPr/>
          <p:nvPr/>
        </p:nvSpPr>
        <p:spPr>
          <a:xfrm>
            <a:off x="9634439" y="44831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8" name="Text 86"/>
          <p:cNvSpPr/>
          <p:nvPr/>
        </p:nvSpPr>
        <p:spPr>
          <a:xfrm>
            <a:off x="9653489" y="46132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25" dirty="0"/>
          </a:p>
        </p:txBody>
      </p:sp>
      <p:sp>
        <p:nvSpPr>
          <p:cNvPr id="89" name="Shape 87"/>
          <p:cNvSpPr/>
          <p:nvPr/>
        </p:nvSpPr>
        <p:spPr>
          <a:xfrm>
            <a:off x="11510467" y="44831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90" name="Text 88"/>
          <p:cNvSpPr/>
          <p:nvPr/>
        </p:nvSpPr>
        <p:spPr>
          <a:xfrm>
            <a:off x="11529517" y="46132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25" dirty="0"/>
          </a:p>
        </p:txBody>
      </p:sp>
      <p:sp>
        <p:nvSpPr>
          <p:cNvPr id="91" name="Shape 89"/>
          <p:cNvSpPr/>
          <p:nvPr/>
        </p:nvSpPr>
        <p:spPr>
          <a:xfrm>
            <a:off x="13386495" y="448310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92" name="Text 90"/>
          <p:cNvSpPr/>
          <p:nvPr/>
        </p:nvSpPr>
        <p:spPr>
          <a:xfrm>
            <a:off x="13405545" y="461327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93" name="Shape 91"/>
          <p:cNvSpPr/>
          <p:nvPr/>
        </p:nvSpPr>
        <p:spPr>
          <a:xfrm>
            <a:off x="15262523" y="448310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94" name="Text 92"/>
          <p:cNvSpPr/>
          <p:nvPr/>
        </p:nvSpPr>
        <p:spPr>
          <a:xfrm>
            <a:off x="15281573" y="461327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95" name="Shape 93"/>
          <p:cNvSpPr/>
          <p:nvPr/>
        </p:nvSpPr>
        <p:spPr>
          <a:xfrm>
            <a:off x="6445250" y="4921250"/>
            <a:ext cx="318918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96" name="Text 94"/>
          <p:cNvSpPr/>
          <p:nvPr/>
        </p:nvSpPr>
        <p:spPr>
          <a:xfrm>
            <a:off x="6502400" y="5051425"/>
            <a:ext cx="317056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89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 · Empleados</a:t>
            </a:r>
            <a:endParaRPr lang="en-US" sz="1125" dirty="0"/>
          </a:p>
        </p:txBody>
      </p:sp>
      <p:sp>
        <p:nvSpPr>
          <p:cNvPr id="97" name="Shape 95"/>
          <p:cNvSpPr/>
          <p:nvPr/>
        </p:nvSpPr>
        <p:spPr>
          <a:xfrm>
            <a:off x="9634439" y="49212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98" name="Text 96"/>
          <p:cNvSpPr/>
          <p:nvPr/>
        </p:nvSpPr>
        <p:spPr>
          <a:xfrm>
            <a:off x="9653489" y="50514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25" dirty="0"/>
          </a:p>
        </p:txBody>
      </p:sp>
      <p:sp>
        <p:nvSpPr>
          <p:cNvPr id="99" name="Shape 97"/>
          <p:cNvSpPr/>
          <p:nvPr/>
        </p:nvSpPr>
        <p:spPr>
          <a:xfrm>
            <a:off x="11510467" y="49212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100" name="Text 98"/>
          <p:cNvSpPr/>
          <p:nvPr/>
        </p:nvSpPr>
        <p:spPr>
          <a:xfrm>
            <a:off x="11529517" y="50514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25" dirty="0"/>
          </a:p>
        </p:txBody>
      </p:sp>
      <p:sp>
        <p:nvSpPr>
          <p:cNvPr id="101" name="Shape 99"/>
          <p:cNvSpPr/>
          <p:nvPr/>
        </p:nvSpPr>
        <p:spPr>
          <a:xfrm>
            <a:off x="13386495" y="4921250"/>
            <a:ext cx="1876028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102" name="Text 100"/>
          <p:cNvSpPr/>
          <p:nvPr/>
        </p:nvSpPr>
        <p:spPr>
          <a:xfrm>
            <a:off x="13405545" y="5051425"/>
            <a:ext cx="18379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03" name="Shape 101"/>
          <p:cNvSpPr/>
          <p:nvPr/>
        </p:nvSpPr>
        <p:spPr>
          <a:xfrm>
            <a:off x="15262523" y="4921250"/>
            <a:ext cx="1876127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104" name="Text 102"/>
          <p:cNvSpPr/>
          <p:nvPr/>
        </p:nvSpPr>
        <p:spPr>
          <a:xfrm>
            <a:off x="15281573" y="5051425"/>
            <a:ext cx="183802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105" name="Shape 103"/>
          <p:cNvSpPr/>
          <p:nvPr/>
        </p:nvSpPr>
        <p:spPr>
          <a:xfrm>
            <a:off x="6445250" y="5588000"/>
            <a:ext cx="10693401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106" name="Text 104"/>
          <p:cNvSpPr/>
          <p:nvPr/>
        </p:nvSpPr>
        <p:spPr>
          <a:xfrm>
            <a:off x="6445250" y="5765800"/>
            <a:ext cx="98216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activo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7579816" y="5765800"/>
            <a:ext cx="19670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CA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pero bloqueado (beta)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596636" y="5765800"/>
            <a:ext cx="8146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FC9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6153150" y="8827889"/>
            <a:ext cx="11277600" cy="887611"/>
          </a:xfrm>
          <a:prstGeom prst="roundRect">
            <a:avLst>
              <a:gd name="adj" fmla="val 6439"/>
            </a:avLst>
          </a:prstGeom>
          <a:solidFill>
            <a:srgbClr val="ED9FBD"/>
          </a:solidFill>
          <a:ln/>
        </p:spPr>
      </p:sp>
      <p:sp>
        <p:nvSpPr>
          <p:cNvPr id="110" name="Text 108"/>
          <p:cNvSpPr/>
          <p:nvPr/>
        </p:nvSpPr>
        <p:spPr>
          <a:xfrm>
            <a:off x="6362700" y="8999339"/>
            <a:ext cx="1119682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principal: Login → (rol) → Órdenes → Pedido rápido / Mesas → Enviar a cocina → Comandas marca "Listo" → Cobrar → Diario de ventas.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36228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Toma de pedido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341217" y="679450"/>
            <a:ext cx="4565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Pedido rápido — A: grilla por categorías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6573500" cy="83248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3600" y="1397000"/>
            <a:ext cx="1905000" cy="83121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7" name="Text 5"/>
          <p:cNvSpPr/>
          <p:nvPr/>
        </p:nvSpPr>
        <p:spPr>
          <a:xfrm>
            <a:off x="1073150" y="1625600"/>
            <a:ext cx="16764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algn="l" indent="0" marL="0">
              <a:buNone/>
            </a:pPr>
            <a:r>
              <a:rPr lang="en-US" sz="19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73150" y="1943100"/>
            <a:ext cx="15621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· Rest.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3600" y="2298700"/>
            <a:ext cx="1905000" cy="44450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" y="2298700"/>
            <a:ext cx="38100" cy="444500"/>
          </a:xfrm>
          <a:prstGeom prst="rect">
            <a:avLst/>
          </a:prstGeom>
          <a:solidFill>
            <a:srgbClr val="F4D761"/>
          </a:solidFill>
          <a:ln/>
        </p:spPr>
      </p:sp>
      <p:sp>
        <p:nvSpPr>
          <p:cNvPr id="11" name="Text 9"/>
          <p:cNvSpPr/>
          <p:nvPr/>
        </p:nvSpPr>
        <p:spPr>
          <a:xfrm>
            <a:off x="1111250" y="2432050"/>
            <a:ext cx="15240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150" y="2876550"/>
            <a:ext cx="156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3150" y="3333750"/>
            <a:ext cx="566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182" y="3349625"/>
            <a:ext cx="181868" cy="158750"/>
          </a:xfrm>
          <a:prstGeom prst="roundRect">
            <a:avLst>
              <a:gd name="adj" fmla="val 48000"/>
            </a:avLst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443857" y="3368675"/>
            <a:ext cx="12471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73150" y="3790950"/>
            <a:ext cx="156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68600" y="1397000"/>
            <a:ext cx="11791950" cy="8312150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18" name="Shape 16"/>
          <p:cNvSpPr/>
          <p:nvPr/>
        </p:nvSpPr>
        <p:spPr>
          <a:xfrm>
            <a:off x="2768600" y="1397000"/>
            <a:ext cx="11791950" cy="933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68600" y="2324100"/>
            <a:ext cx="11791950" cy="9525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6250" y="1606550"/>
            <a:ext cx="8132068" cy="508000"/>
          </a:xfrm>
          <a:prstGeom prst="roundRect">
            <a:avLst>
              <a:gd name="adj" fmla="val 20625"/>
            </a:avLst>
          </a:prstGeom>
          <a:solidFill>
            <a:srgbClr val="F4F2EA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94050" y="1612900"/>
            <a:ext cx="802043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producto · Search…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281668" y="1673225"/>
            <a:ext cx="1670844" cy="374650"/>
          </a:xfrm>
          <a:prstGeom prst="roundRect">
            <a:avLst>
              <a:gd name="adj" fmla="val 25424"/>
            </a:avLst>
          </a:prstGeom>
          <a:solidFill>
            <a:srgbClr val="F4D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4068" y="1778000"/>
            <a:ext cx="14422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Sección: Restaurante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3085862" y="1644650"/>
            <a:ext cx="1227038" cy="431800"/>
          </a:xfrm>
          <a:prstGeom prst="roundRect">
            <a:avLst>
              <a:gd name="adj" fmla="val 22059"/>
            </a:avLst>
          </a:prstGeom>
          <a:ln w="19050">
            <a:solidFill>
              <a:srgbClr val="E70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7312" y="1768475"/>
            <a:ext cx="96033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Ir a Mesas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6250" y="2501900"/>
            <a:ext cx="970260" cy="38735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27" name="Text 25"/>
          <p:cNvSpPr/>
          <p:nvPr/>
        </p:nvSpPr>
        <p:spPr>
          <a:xfrm>
            <a:off x="3187700" y="2597150"/>
            <a:ext cx="70356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4081760" y="2501900"/>
            <a:ext cx="1133277" cy="387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9560" y="2603500"/>
            <a:ext cx="85387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Alc.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310287" y="2501900"/>
            <a:ext cx="1344811" cy="387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8087" y="2603500"/>
            <a:ext cx="106541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No Alc.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750348" y="2501900"/>
            <a:ext cx="721122" cy="387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8148" y="2603500"/>
            <a:ext cx="4417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016250" y="3079750"/>
            <a:ext cx="1165040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SUB-CATEGORÍA · Entradas · Asados · Mariscos · Postres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016250" y="33718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22600" y="33782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37" name="Text 35"/>
          <p:cNvSpPr/>
          <p:nvPr/>
        </p:nvSpPr>
        <p:spPr>
          <a:xfrm>
            <a:off x="2967641" y="33782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55950" y="58832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Ceviche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55950" y="60610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26250" y="33718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2600" y="33782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42" name="Text 40"/>
          <p:cNvSpPr/>
          <p:nvPr/>
        </p:nvSpPr>
        <p:spPr>
          <a:xfrm>
            <a:off x="6777641" y="33782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5950" y="58832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Churrasco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65950" y="60610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636251" y="33718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42600" y="33782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47" name="Text 45"/>
          <p:cNvSpPr/>
          <p:nvPr/>
        </p:nvSpPr>
        <p:spPr>
          <a:xfrm>
            <a:off x="10587641" y="33782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75950" y="58832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Corvina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775950" y="60610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016250" y="64833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22600" y="64897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52" name="Text 50"/>
          <p:cNvSpPr/>
          <p:nvPr/>
        </p:nvSpPr>
        <p:spPr>
          <a:xfrm>
            <a:off x="2967641" y="64897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55950" y="89947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Patacones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155950" y="91725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26250" y="64833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32600" y="64897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57" name="Text 55"/>
          <p:cNvSpPr/>
          <p:nvPr/>
        </p:nvSpPr>
        <p:spPr>
          <a:xfrm>
            <a:off x="6777641" y="64897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65950" y="89947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Arroz mariscos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65950" y="91725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$11.50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0636251" y="6483350"/>
            <a:ext cx="3676650" cy="2978150"/>
          </a:xfrm>
          <a:prstGeom prst="roundRect">
            <a:avLst>
              <a:gd name="adj" fmla="val 3838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42600" y="6489700"/>
            <a:ext cx="3663950" cy="2400300"/>
          </a:xfrm>
          <a:prstGeom prst="rect">
            <a:avLst/>
          </a:prstGeom>
          <a:solidFill>
            <a:srgbClr val="ECEAE2"/>
          </a:solidFill>
          <a:ln/>
        </p:spPr>
      </p:sp>
      <p:sp>
        <p:nvSpPr>
          <p:cNvPr id="62" name="Text 60"/>
          <p:cNvSpPr/>
          <p:nvPr/>
        </p:nvSpPr>
        <p:spPr>
          <a:xfrm>
            <a:off x="10587641" y="6489700"/>
            <a:ext cx="3773869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75950" y="89947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775950" y="917257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4560551" y="1397000"/>
            <a:ext cx="2863850" cy="8312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4560551" y="1397000"/>
            <a:ext cx="9525" cy="8312150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67" name="Shape 65"/>
          <p:cNvSpPr/>
          <p:nvPr/>
        </p:nvSpPr>
        <p:spPr>
          <a:xfrm>
            <a:off x="14566900" y="2076450"/>
            <a:ext cx="2857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8" name="Text 66"/>
          <p:cNvSpPr/>
          <p:nvPr/>
        </p:nvSpPr>
        <p:spPr>
          <a:xfrm>
            <a:off x="14757400" y="1587500"/>
            <a:ext cx="27241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 · Ticket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14757400" y="1784350"/>
            <a:ext cx="27241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rápido #0142</a:t>
            </a:r>
            <a:endParaRPr lang="en-US" sz="975" dirty="0"/>
          </a:p>
        </p:txBody>
      </p:sp>
      <p:sp>
        <p:nvSpPr>
          <p:cNvPr id="70" name="Shape 68"/>
          <p:cNvSpPr/>
          <p:nvPr/>
        </p:nvSpPr>
        <p:spPr>
          <a:xfrm>
            <a:off x="14757400" y="2216150"/>
            <a:ext cx="812800" cy="298450"/>
          </a:xfrm>
          <a:prstGeom prst="roundRect">
            <a:avLst>
              <a:gd name="adj" fmla="val 25532"/>
            </a:avLst>
          </a:prstGeom>
          <a:ln w="6350">
            <a:solidFill>
              <a:srgbClr val="E3DE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725650" y="22225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5011400" y="2282825"/>
            <a:ext cx="3048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15240000" y="2222500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5665451" y="2282825"/>
            <a:ext cx="11123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Ceviche</a:t>
            </a:r>
            <a:endParaRPr lang="en-US" sz="1125" dirty="0"/>
          </a:p>
        </p:txBody>
      </p:sp>
      <p:sp>
        <p:nvSpPr>
          <p:cNvPr id="75" name="Text 73"/>
          <p:cNvSpPr/>
          <p:nvPr/>
        </p:nvSpPr>
        <p:spPr>
          <a:xfrm>
            <a:off x="16796842" y="2282825"/>
            <a:ext cx="5132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$17.00</a:t>
            </a:r>
            <a:endParaRPr lang="en-US" sz="1125" dirty="0"/>
          </a:p>
        </p:txBody>
      </p:sp>
      <p:sp>
        <p:nvSpPr>
          <p:cNvPr id="76" name="Shape 74"/>
          <p:cNvSpPr/>
          <p:nvPr/>
        </p:nvSpPr>
        <p:spPr>
          <a:xfrm>
            <a:off x="14757400" y="2638425"/>
            <a:ext cx="812800" cy="298450"/>
          </a:xfrm>
          <a:prstGeom prst="roundRect">
            <a:avLst>
              <a:gd name="adj" fmla="val 25532"/>
            </a:avLst>
          </a:prstGeom>
          <a:ln w="6350">
            <a:solidFill>
              <a:srgbClr val="E3DE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725650" y="26447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5011400" y="2705100"/>
            <a:ext cx="3048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79" name="Text 77"/>
          <p:cNvSpPr/>
          <p:nvPr/>
        </p:nvSpPr>
        <p:spPr>
          <a:xfrm>
            <a:off x="15240000" y="26447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5665451" y="2705100"/>
            <a:ext cx="11123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Churrasco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16796842" y="2705100"/>
            <a:ext cx="5132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</a:t>
            </a:r>
            <a:endParaRPr lang="en-US" sz="1125" dirty="0"/>
          </a:p>
        </p:txBody>
      </p:sp>
      <p:sp>
        <p:nvSpPr>
          <p:cNvPr id="82" name="Shape 80"/>
          <p:cNvSpPr/>
          <p:nvPr/>
        </p:nvSpPr>
        <p:spPr>
          <a:xfrm>
            <a:off x="14757400" y="3060700"/>
            <a:ext cx="2476500" cy="361950"/>
          </a:xfrm>
          <a:prstGeom prst="roundRect">
            <a:avLst>
              <a:gd name="adj" fmla="val 26316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14887575" y="3162300"/>
            <a:ext cx="22923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término medio, sin sal…</a:t>
            </a:r>
            <a:endParaRPr lang="en-US" sz="975" dirty="0"/>
          </a:p>
        </p:txBody>
      </p:sp>
      <p:sp>
        <p:nvSpPr>
          <p:cNvPr id="84" name="Shape 82"/>
          <p:cNvSpPr/>
          <p:nvPr/>
        </p:nvSpPr>
        <p:spPr>
          <a:xfrm>
            <a:off x="14566900" y="7962900"/>
            <a:ext cx="2857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85" name="Text 83"/>
          <p:cNvSpPr/>
          <p:nvPr/>
        </p:nvSpPr>
        <p:spPr>
          <a:xfrm>
            <a:off x="14757400" y="8140700"/>
            <a:ext cx="47863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16651188" y="8140700"/>
            <a:ext cx="6589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$31.00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14757400" y="8489950"/>
            <a:ext cx="2476500" cy="476250"/>
          </a:xfrm>
          <a:prstGeom prst="roundRect">
            <a:avLst>
              <a:gd name="adj" fmla="val 22000"/>
            </a:avLst>
          </a:prstGeom>
          <a:solidFill>
            <a:srgbClr val="383838"/>
          </a:solidFill>
          <a:ln/>
        </p:spPr>
      </p:sp>
      <p:sp>
        <p:nvSpPr>
          <p:cNvPr id="88" name="Text 86"/>
          <p:cNvSpPr/>
          <p:nvPr/>
        </p:nvSpPr>
        <p:spPr>
          <a:xfrm>
            <a:off x="14719300" y="8489950"/>
            <a:ext cx="2552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a cocina</a:t>
            </a:r>
            <a:endParaRPr lang="en-US" sz="1125" dirty="0"/>
          </a:p>
        </p:txBody>
      </p:sp>
      <p:sp>
        <p:nvSpPr>
          <p:cNvPr id="89" name="Shape 87"/>
          <p:cNvSpPr/>
          <p:nvPr/>
        </p:nvSpPr>
        <p:spPr>
          <a:xfrm>
            <a:off x="14757400" y="9061450"/>
            <a:ext cx="2476500" cy="476250"/>
          </a:xfrm>
          <a:prstGeom prst="roundRect">
            <a:avLst>
              <a:gd name="adj" fmla="val 22000"/>
            </a:avLst>
          </a:prstGeom>
          <a:solidFill>
            <a:srgbClr val="E70C88"/>
          </a:solidFill>
          <a:ln/>
        </p:spPr>
      </p:sp>
      <p:sp>
        <p:nvSpPr>
          <p:cNvPr id="90" name="Text 88"/>
          <p:cNvSpPr/>
          <p:nvPr/>
        </p:nvSpPr>
        <p:spPr>
          <a:xfrm>
            <a:off x="14719300" y="9061450"/>
            <a:ext cx="2552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· Charge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36228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Toma de pedido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341217" y="679450"/>
            <a:ext cx="5905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Pedido rápido — B: búsqueda + favoritos (velocidad)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3030200" cy="83248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3600" y="1397000"/>
            <a:ext cx="9969501" cy="8312150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1397000"/>
            <a:ext cx="9969501" cy="996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2387600"/>
            <a:ext cx="9969501" cy="9525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9" name="Text 7"/>
          <p:cNvSpPr/>
          <p:nvPr/>
        </p:nvSpPr>
        <p:spPr>
          <a:xfrm>
            <a:off x="1111250" y="1758950"/>
            <a:ext cx="1092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MiPedido</a:t>
            </a:r>
            <a:pPr algn="l" indent="0" marL="0">
              <a:buNone/>
            </a:pPr>
            <a:r>
              <a:rPr lang="en-US" sz="18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61295" y="1606550"/>
            <a:ext cx="7265095" cy="571500"/>
          </a:xfrm>
          <a:prstGeom prst="roundRect">
            <a:avLst>
              <a:gd name="adj" fmla="val 21667"/>
            </a:avLst>
          </a:prstGeom>
          <a:solidFill>
            <a:srgbClr val="F4D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70845" y="1606550"/>
            <a:ext cx="70639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Escribe o escanea para agregar…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59739" y="1673225"/>
            <a:ext cx="925711" cy="438150"/>
          </a:xfrm>
          <a:prstGeom prst="roundRect">
            <a:avLst>
              <a:gd name="adj" fmla="val 23913"/>
            </a:avLst>
          </a:prstGeom>
          <a:ln w="19050">
            <a:solidFill>
              <a:srgbClr val="E70C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31189" y="1806575"/>
            <a:ext cx="6590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Mesas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111250" y="2565400"/>
            <a:ext cx="977328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2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VENDIDOS · TAP PARA AGREGAR (1 toque)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1111250" y="2787650"/>
            <a:ext cx="2282825" cy="717550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9824" y="2965450"/>
            <a:ext cx="224567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Cerveza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129824" y="3149600"/>
            <a:ext cx="22456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08375" y="2787650"/>
            <a:ext cx="2282825" cy="717550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6949" y="2965450"/>
            <a:ext cx="224567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Churrasco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526949" y="3149600"/>
            <a:ext cx="22456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05500" y="2787650"/>
            <a:ext cx="2282825" cy="717550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4074" y="2965450"/>
            <a:ext cx="224567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Ceviche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5924074" y="3149600"/>
            <a:ext cx="22456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02625" y="2787650"/>
            <a:ext cx="2282825" cy="717550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199" y="2965450"/>
            <a:ext cx="224567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Coca-Cola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8321199" y="3149600"/>
            <a:ext cx="22456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1250" y="3714750"/>
            <a:ext cx="977328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2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RÁPIDAS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111250" y="3937000"/>
            <a:ext cx="970260" cy="406400"/>
          </a:xfrm>
          <a:prstGeom prst="roundRect">
            <a:avLst>
              <a:gd name="adj" fmla="val 25781"/>
            </a:avLst>
          </a:prstGeom>
          <a:solidFill>
            <a:srgbClr val="383838"/>
          </a:solidFill>
          <a:ln/>
        </p:spPr>
      </p:sp>
      <p:sp>
        <p:nvSpPr>
          <p:cNvPr id="29" name="Text 27"/>
          <p:cNvSpPr/>
          <p:nvPr/>
        </p:nvSpPr>
        <p:spPr>
          <a:xfrm>
            <a:off x="1282700" y="4041775"/>
            <a:ext cx="70356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2176760" y="3937000"/>
            <a:ext cx="1133277" cy="406400"/>
          </a:xfrm>
          <a:prstGeom prst="roundRect">
            <a:avLst>
              <a:gd name="adj" fmla="val 25781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4560" y="4048125"/>
            <a:ext cx="85387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Alc.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3405287" y="3937000"/>
            <a:ext cx="1344811" cy="406400"/>
          </a:xfrm>
          <a:prstGeom prst="roundRect">
            <a:avLst>
              <a:gd name="adj" fmla="val 25781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3087" y="4048125"/>
            <a:ext cx="106541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No Alc.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4845348" y="3937000"/>
            <a:ext cx="721122" cy="406400"/>
          </a:xfrm>
          <a:prstGeom prst="roundRect">
            <a:avLst>
              <a:gd name="adj" fmla="val 25781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3148" y="4048125"/>
            <a:ext cx="4417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111250" y="8921750"/>
            <a:ext cx="9474200" cy="5397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6350">
            <a:solidFill>
              <a:srgbClr val="E3DED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146937" y="9099550"/>
            <a:ext cx="940282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búsqueda filtra entre todas las secciones; las de tu sección aparecen primero.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0833100" y="1397000"/>
            <a:ext cx="3048000" cy="83121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33100" y="2101850"/>
            <a:ext cx="3048000" cy="95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2650" y="1587500"/>
            <a:ext cx="28917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 #0143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042650" y="1784350"/>
            <a:ext cx="289179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B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productos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042650" y="2260600"/>
            <a:ext cx="8295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Cerveza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263265" y="2260600"/>
            <a:ext cx="4844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$5.00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042650" y="2584450"/>
            <a:ext cx="9453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Churrasco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202444" y="2584450"/>
            <a:ext cx="5453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042650" y="2908300"/>
            <a:ext cx="7792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Ceviche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71897" y="2908300"/>
            <a:ext cx="475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833100" y="7937500"/>
            <a:ext cx="3048000" cy="9525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9" name="Text 47"/>
          <p:cNvSpPr/>
          <p:nvPr/>
        </p:nvSpPr>
        <p:spPr>
          <a:xfrm>
            <a:off x="11042650" y="8115300"/>
            <a:ext cx="51891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3030598" y="8115300"/>
            <a:ext cx="71715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$27.50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1042650" y="8489950"/>
            <a:ext cx="26289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11003217" y="8489950"/>
            <a:ext cx="270776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a cocina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11042650" y="9061450"/>
            <a:ext cx="2628900" cy="476250"/>
          </a:xfrm>
          <a:prstGeom prst="roundRect">
            <a:avLst>
              <a:gd name="adj" fmla="val 22000"/>
            </a:avLst>
          </a:prstGeom>
          <a:solidFill>
            <a:srgbClr val="E70C88"/>
          </a:solidFill>
          <a:ln/>
        </p:spPr>
      </p:sp>
      <p:sp>
        <p:nvSpPr>
          <p:cNvPr id="54" name="Text 52"/>
          <p:cNvSpPr/>
          <p:nvPr/>
        </p:nvSpPr>
        <p:spPr>
          <a:xfrm>
            <a:off x="11003217" y="9061450"/>
            <a:ext cx="270776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· Charge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 rot="-90000">
            <a:off x="14230351" y="4681538"/>
            <a:ext cx="3200399" cy="1743074"/>
          </a:xfrm>
          <a:prstGeom prst="roundRect">
            <a:avLst>
              <a:gd name="adj" fmla="val 3279"/>
            </a:avLst>
          </a:prstGeom>
          <a:solidFill>
            <a:srgbClr val="F4D761"/>
          </a:solidFill>
          <a:ln/>
          <a:effectLst>
            <a:outerShdw sx="100000" sy="100000" kx="0" ky="0" algn="bl" rotWithShape="0" blurRad="133350" dist="38100" dir="54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 rot="-90000">
            <a:off x="14497050" y="4910138"/>
            <a:ext cx="27630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 velocidad: agregar un producto en ≤ 1–2 toques. Respuesta &lt; 4 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36228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Toma de pedido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341217" y="679450"/>
            <a:ext cx="57775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Mesas / principal — cuenta individual por comensal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6573500" cy="83248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3600" y="1397000"/>
            <a:ext cx="13411200" cy="8312150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1397000"/>
            <a:ext cx="134112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2190750"/>
            <a:ext cx="13411200" cy="9525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9" name="Text 7"/>
          <p:cNvSpPr/>
          <p:nvPr/>
        </p:nvSpPr>
        <p:spPr>
          <a:xfrm>
            <a:off x="1111250" y="1673225"/>
            <a:ext cx="147339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Salón · Mesas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126093" y="1720850"/>
            <a:ext cx="146050" cy="1460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6350">
            <a:solidFill>
              <a:srgbClr val="CFC9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818" y="1711325"/>
            <a:ext cx="3817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777762" y="17272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70C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977787" y="1711325"/>
            <a:ext cx="6253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717463" y="1606550"/>
            <a:ext cx="1309688" cy="374650"/>
          </a:xfrm>
          <a:prstGeom prst="roundRect">
            <a:avLst>
              <a:gd name="adj" fmla="val 27966"/>
            </a:avLst>
          </a:prstGeom>
          <a:solidFill>
            <a:srgbClr val="E70C8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69863" y="1711325"/>
            <a:ext cx="108108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Pedido rápido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111250" y="2444750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6612" y="3740944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412802" y="4090194"/>
            <a:ext cx="57348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· 4p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4383088" y="2444750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E70C88"/>
          </a:solidFill>
          <a:ln/>
        </p:spPr>
      </p:sp>
      <p:sp>
        <p:nvSpPr>
          <p:cNvPr id="20" name="Text 18"/>
          <p:cNvSpPr/>
          <p:nvPr/>
        </p:nvSpPr>
        <p:spPr>
          <a:xfrm>
            <a:off x="5848449" y="3740944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65974" y="4090194"/>
            <a:ext cx="8108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D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comensales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7654925" y="2444750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E70C88"/>
          </a:solidFill>
          <a:ln/>
        </p:spPr>
      </p:sp>
      <p:sp>
        <p:nvSpPr>
          <p:cNvPr id="23" name="Text 21"/>
          <p:cNvSpPr/>
          <p:nvPr/>
        </p:nvSpPr>
        <p:spPr>
          <a:xfrm>
            <a:off x="9120287" y="3740944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00331" y="4090194"/>
            <a:ext cx="48577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D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$48.00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0926763" y="2444750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92125" y="3740944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231886" y="4090194"/>
            <a:ext cx="5663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· 2p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111250" y="5716588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6612" y="7012781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415084" y="7362031"/>
            <a:ext cx="5689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· 6p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4383088" y="5716588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E70C88"/>
          </a:solidFill>
          <a:ln/>
        </p:spPr>
      </p:sp>
      <p:sp>
        <p:nvSpPr>
          <p:cNvPr id="32" name="Text 30"/>
          <p:cNvSpPr/>
          <p:nvPr/>
        </p:nvSpPr>
        <p:spPr>
          <a:xfrm>
            <a:off x="5848449" y="7012781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737821" y="7362031"/>
            <a:ext cx="46702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D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$22.50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654925" y="5716588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0287" y="7012781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956477" y="7362031"/>
            <a:ext cx="57348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· 4p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0926763" y="5716588"/>
            <a:ext cx="3100388" cy="3100388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92125" y="7012781"/>
            <a:ext cx="245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2231886" y="7362031"/>
            <a:ext cx="5663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· 2p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4274801" y="1397000"/>
            <a:ext cx="3149600" cy="8312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4274801" y="1397000"/>
            <a:ext cx="9525" cy="8312150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42" name="Shape 40"/>
          <p:cNvSpPr/>
          <p:nvPr/>
        </p:nvSpPr>
        <p:spPr>
          <a:xfrm>
            <a:off x="14281150" y="2127250"/>
            <a:ext cx="314325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3" name="Text 41"/>
          <p:cNvSpPr/>
          <p:nvPr/>
        </p:nvSpPr>
        <p:spPr>
          <a:xfrm>
            <a:off x="14490700" y="1587500"/>
            <a:ext cx="299656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2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4490700" y="1828800"/>
            <a:ext cx="29965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por comensal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4490700" y="2305050"/>
            <a:ext cx="487462" cy="34925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46" name="Text 44"/>
          <p:cNvSpPr/>
          <p:nvPr/>
        </p:nvSpPr>
        <p:spPr>
          <a:xfrm>
            <a:off x="14643100" y="2390775"/>
            <a:ext cx="2588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15054362" y="2305050"/>
            <a:ext cx="487462" cy="349250"/>
          </a:xfrm>
          <a:prstGeom prst="roundRect">
            <a:avLst>
              <a:gd name="adj" fmla="val 50000"/>
            </a:avLst>
          </a:prstGeom>
          <a:solidFill>
            <a:srgbClr val="F1EFE7"/>
          </a:solidFill>
          <a:ln/>
        </p:spPr>
      </p:sp>
      <p:sp>
        <p:nvSpPr>
          <p:cNvPr id="48" name="Text 46"/>
          <p:cNvSpPr/>
          <p:nvPr/>
        </p:nvSpPr>
        <p:spPr>
          <a:xfrm>
            <a:off x="15206762" y="2390775"/>
            <a:ext cx="2588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15618023" y="2305050"/>
            <a:ext cx="487462" cy="349250"/>
          </a:xfrm>
          <a:prstGeom prst="roundRect">
            <a:avLst>
              <a:gd name="adj" fmla="val 50000"/>
            </a:avLst>
          </a:prstGeom>
          <a:solidFill>
            <a:srgbClr val="F1EFE7"/>
          </a:solidFill>
          <a:ln/>
        </p:spPr>
      </p:sp>
      <p:sp>
        <p:nvSpPr>
          <p:cNvPr id="50" name="Text 48"/>
          <p:cNvSpPr/>
          <p:nvPr/>
        </p:nvSpPr>
        <p:spPr>
          <a:xfrm>
            <a:off x="15770423" y="2390775"/>
            <a:ext cx="2588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16181686" y="2305050"/>
            <a:ext cx="362843" cy="34925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FC9BA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6321386" y="2397125"/>
            <a:ext cx="15964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14490700" y="2844800"/>
            <a:ext cx="299656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COMENSAL 1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4490700" y="3114675"/>
            <a:ext cx="7787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Corvina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6749018" y="3114675"/>
            <a:ext cx="5420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$12.00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4490700" y="3429000"/>
            <a:ext cx="8011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Cerveza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6816289" y="3429000"/>
            <a:ext cx="4747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$2.50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4490700" y="3781425"/>
            <a:ext cx="2724150" cy="361950"/>
          </a:xfrm>
          <a:prstGeom prst="roundRect">
            <a:avLst>
              <a:gd name="adj" fmla="val 26316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4620875" y="3883025"/>
            <a:ext cx="25455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Agregar productos a este comensal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14281150" y="8096250"/>
            <a:ext cx="314325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1" name="Text 59"/>
          <p:cNvSpPr/>
          <p:nvPr/>
        </p:nvSpPr>
        <p:spPr>
          <a:xfrm>
            <a:off x="14490700" y="8274050"/>
            <a:ext cx="97214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C1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6690380" y="8274050"/>
            <a:ext cx="60067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$14.50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490700" y="8585200"/>
            <a:ext cx="2724150" cy="438150"/>
          </a:xfrm>
          <a:prstGeom prst="roundRect">
            <a:avLst>
              <a:gd name="adj" fmla="val 23913"/>
            </a:avLst>
          </a:prstGeom>
          <a:solidFill>
            <a:srgbClr val="383838"/>
          </a:solidFill>
          <a:ln/>
        </p:spPr>
      </p:sp>
      <p:sp>
        <p:nvSpPr>
          <p:cNvPr id="64" name="Text 62"/>
          <p:cNvSpPr/>
          <p:nvPr/>
        </p:nvSpPr>
        <p:spPr>
          <a:xfrm>
            <a:off x="14449838" y="8585200"/>
            <a:ext cx="28058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a cocina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4490700" y="9099550"/>
            <a:ext cx="2724150" cy="438150"/>
          </a:xfrm>
          <a:prstGeom prst="roundRect">
            <a:avLst>
              <a:gd name="adj" fmla="val 23913"/>
            </a:avLst>
          </a:prstGeom>
          <a:solidFill>
            <a:srgbClr val="E70C88"/>
          </a:solidFill>
          <a:ln/>
        </p:spPr>
      </p:sp>
      <p:sp>
        <p:nvSpPr>
          <p:cNvPr id="66" name="Text 64"/>
          <p:cNvSpPr/>
          <p:nvPr/>
        </p:nvSpPr>
        <p:spPr>
          <a:xfrm>
            <a:off x="14449838" y="9099550"/>
            <a:ext cx="28058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comensal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44924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Comandas — cocina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31793" y="679450"/>
            <a:ext cx="30558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A: fila de tarjetas · Monitor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6573500" cy="8324850"/>
          </a:xfrm>
          <a:prstGeom prst="roundRect">
            <a:avLst>
              <a:gd name="adj" fmla="val 2059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9550" dist="5715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7250" y="1390650"/>
            <a:ext cx="16573500" cy="77470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1657350"/>
            <a:ext cx="19443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algn="l" indent="0" marL="0">
              <a:buNone/>
            </a:pPr>
            <a:r>
              <a:rPr lang="en-US" sz="16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</a:t>
            </a:r>
            <a:pPr algn="l" indent="0" marL="0">
              <a:buNone/>
            </a:pPr>
            <a:r>
              <a:rPr lang="en-US" sz="12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Comandas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061679" y="1682750"/>
            <a:ext cx="12600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Fila: 4 pendientes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417007" y="1600200"/>
            <a:ext cx="1708944" cy="355600"/>
          </a:xfrm>
          <a:prstGeom prst="roundRect">
            <a:avLst>
              <a:gd name="adj" fmla="val 26786"/>
            </a:avLst>
          </a:prstGeom>
          <a:solidFill>
            <a:srgbClr val="F4D761"/>
          </a:solidFill>
          <a:ln/>
        </p:spPr>
      </p:sp>
      <p:sp>
        <p:nvSpPr>
          <p:cNvPr id="10" name="Text 8"/>
          <p:cNvSpPr/>
          <p:nvPr/>
        </p:nvSpPr>
        <p:spPr>
          <a:xfrm>
            <a:off x="15588457" y="1695450"/>
            <a:ext cx="14422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Sección: Restaurante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04900" y="2413000"/>
            <a:ext cx="3876675" cy="705485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" y="2413000"/>
            <a:ext cx="3876675" cy="7620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" y="34226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2660650"/>
            <a:ext cx="45769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423172" y="2844800"/>
            <a:ext cx="4250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14450" y="3073400"/>
            <a:ext cx="380333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2 · C1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14450" y="36195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5450" y="3600450"/>
            <a:ext cx="125521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Corvina frita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95450" y="3797300"/>
            <a:ext cx="12552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sal · limón aparte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14450" y="41148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5450" y="4095750"/>
            <a:ext cx="88642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Patacones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04900" y="87058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6350" y="8845550"/>
            <a:ext cx="1722438" cy="476250"/>
          </a:xfrm>
          <a:prstGeom prst="roundRect">
            <a:avLst>
              <a:gd name="adj" fmla="val 22000"/>
            </a:avLst>
          </a:prstGeom>
          <a:solidFill>
            <a:srgbClr val="F4D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238250" y="8845550"/>
            <a:ext cx="17986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74988" y="8845550"/>
            <a:ext cx="1735138" cy="488950"/>
          </a:xfrm>
          <a:prstGeom prst="roundRect">
            <a:avLst>
              <a:gd name="adj" fmla="val 21429"/>
            </a:avLst>
          </a:prstGeom>
          <a:solidFill>
            <a:srgbClr val="F1EFE7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3238" y="8851900"/>
            <a:ext cx="17986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72075" y="2413000"/>
            <a:ext cx="3876675" cy="705485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172075" y="2413000"/>
            <a:ext cx="3876675" cy="76200"/>
          </a:xfrm>
          <a:prstGeom prst="rect">
            <a:avLst/>
          </a:prstGeom>
          <a:solidFill>
            <a:srgbClr val="F4D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5172075" y="34226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30" name="Text 28"/>
          <p:cNvSpPr/>
          <p:nvPr/>
        </p:nvSpPr>
        <p:spPr>
          <a:xfrm>
            <a:off x="5381625" y="2660650"/>
            <a:ext cx="45769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8483402" y="2844800"/>
            <a:ext cx="4319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81625" y="3073400"/>
            <a:ext cx="380333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81625" y="36195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383838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2575" y="363855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62625" y="3600450"/>
            <a:ext cx="8670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trike="sngStrike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Churrasco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381625" y="40386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2625" y="4019550"/>
            <a:ext cx="121939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Arroz mariscos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381625" y="44577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2625" y="4438650"/>
            <a:ext cx="69562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Ceviche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172075" y="87058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1" name="Shape 39"/>
          <p:cNvSpPr/>
          <p:nvPr/>
        </p:nvSpPr>
        <p:spPr>
          <a:xfrm>
            <a:off x="5343525" y="8845550"/>
            <a:ext cx="1722438" cy="476250"/>
          </a:xfrm>
          <a:prstGeom prst="roundRect">
            <a:avLst>
              <a:gd name="adj" fmla="val 22000"/>
            </a:avLst>
          </a:prstGeom>
          <a:solidFill>
            <a:srgbClr val="F4D761"/>
          </a:solidFill>
          <a:ln/>
        </p:spPr>
      </p:sp>
      <p:sp>
        <p:nvSpPr>
          <p:cNvPr id="42" name="Text 40"/>
          <p:cNvSpPr/>
          <p:nvPr/>
        </p:nvSpPr>
        <p:spPr>
          <a:xfrm>
            <a:off x="5305425" y="8845550"/>
            <a:ext cx="17986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42163" y="8845550"/>
            <a:ext cx="1735138" cy="488950"/>
          </a:xfrm>
          <a:prstGeom prst="roundRect">
            <a:avLst>
              <a:gd name="adj" fmla="val 21429"/>
            </a:avLst>
          </a:prstGeom>
          <a:solidFill>
            <a:srgbClr val="F1EFE7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0413" y="8851900"/>
            <a:ext cx="17986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239250" y="2413000"/>
            <a:ext cx="3876675" cy="705485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239250" y="2413000"/>
            <a:ext cx="3876675" cy="76200"/>
          </a:xfrm>
          <a:prstGeom prst="rect">
            <a:avLst/>
          </a:prstGeom>
          <a:solidFill>
            <a:srgbClr val="CFC9BA"/>
          </a:solidFill>
          <a:ln/>
        </p:spPr>
      </p:sp>
      <p:sp>
        <p:nvSpPr>
          <p:cNvPr id="47" name="Shape 45"/>
          <p:cNvSpPr/>
          <p:nvPr/>
        </p:nvSpPr>
        <p:spPr>
          <a:xfrm>
            <a:off x="9239250" y="34226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8" name="Text 46"/>
          <p:cNvSpPr/>
          <p:nvPr/>
        </p:nvSpPr>
        <p:spPr>
          <a:xfrm>
            <a:off x="9448800" y="2660650"/>
            <a:ext cx="45769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12553057" y="2844800"/>
            <a:ext cx="4295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09:46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448800" y="3073400"/>
            <a:ext cx="380333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48800" y="36195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29800" y="3600450"/>
            <a:ext cx="4097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9448800" y="4038600"/>
            <a:ext cx="266700" cy="266700"/>
          </a:xfrm>
          <a:prstGeom prst="roundRect">
            <a:avLst>
              <a:gd name="adj" fmla="val 21429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29800" y="4019550"/>
            <a:ext cx="72915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× 2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9239250" y="87058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6" name="Shape 54"/>
          <p:cNvSpPr/>
          <p:nvPr/>
        </p:nvSpPr>
        <p:spPr>
          <a:xfrm>
            <a:off x="9410700" y="8845550"/>
            <a:ext cx="1728788" cy="488950"/>
          </a:xfrm>
          <a:prstGeom prst="roundRect">
            <a:avLst>
              <a:gd name="adj" fmla="val 21429"/>
            </a:avLst>
          </a:prstGeom>
          <a:solidFill>
            <a:srgbClr val="F1EFE7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78950" y="8851900"/>
            <a:ext cx="179228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1215688" y="8845550"/>
            <a:ext cx="1728788" cy="488950"/>
          </a:xfrm>
          <a:prstGeom prst="roundRect">
            <a:avLst>
              <a:gd name="adj" fmla="val 21429"/>
            </a:avLst>
          </a:prstGeom>
          <a:solidFill>
            <a:srgbClr val="F1EFE7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183938" y="8851900"/>
            <a:ext cx="179228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3306425" y="2413000"/>
            <a:ext cx="3876675" cy="7054850"/>
          </a:xfrm>
          <a:prstGeom prst="roundRect">
            <a:avLst>
              <a:gd name="adj" fmla="val 3931"/>
            </a:avLst>
          </a:prstGeom>
          <a:solidFill>
            <a:srgbClr val="FAFAFA">
              <a:alpha val="7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3306425" y="2413000"/>
            <a:ext cx="3876675" cy="76200"/>
          </a:xfrm>
          <a:prstGeom prst="rect">
            <a:avLst/>
          </a:prstGeom>
          <a:solidFill>
            <a:srgbClr val="383838">
              <a:alpha val="7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306425" y="34226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3" name="Text 61"/>
          <p:cNvSpPr/>
          <p:nvPr/>
        </p:nvSpPr>
        <p:spPr>
          <a:xfrm>
            <a:off x="13515975" y="2660650"/>
            <a:ext cx="45769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16631742" y="2844800"/>
            <a:ext cx="4180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09:47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3515975" y="3073400"/>
            <a:ext cx="380333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3515975" y="36195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83838"/>
          </a:solidFill>
          <a:ln/>
        </p:spPr>
      </p:sp>
      <p:sp>
        <p:nvSpPr>
          <p:cNvPr id="67" name="Text 65"/>
          <p:cNvSpPr/>
          <p:nvPr/>
        </p:nvSpPr>
        <p:spPr>
          <a:xfrm>
            <a:off x="13477875" y="361950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3858875" y="3600450"/>
            <a:ext cx="95775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trike="sngStrike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Cerveza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13306425" y="8718550"/>
            <a:ext cx="3876675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0" name="Shape 68"/>
          <p:cNvSpPr/>
          <p:nvPr/>
        </p:nvSpPr>
        <p:spPr>
          <a:xfrm>
            <a:off x="13477875" y="8858250"/>
            <a:ext cx="3533775" cy="476250"/>
          </a:xfrm>
          <a:prstGeom prst="roundRect">
            <a:avLst>
              <a:gd name="adj" fmla="val 22000"/>
            </a:avLst>
          </a:prstGeom>
          <a:solidFill>
            <a:srgbClr val="383838"/>
          </a:solidFill>
          <a:ln/>
        </p:spPr>
      </p:sp>
      <p:sp>
        <p:nvSpPr>
          <p:cNvPr id="71" name="Text 69"/>
          <p:cNvSpPr/>
          <p:nvPr/>
        </p:nvSpPr>
        <p:spPr>
          <a:xfrm>
            <a:off x="13424868" y="8858250"/>
            <a:ext cx="363978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Listo — sale de la fila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44924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Comandas — cocina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31793" y="679450"/>
            <a:ext cx="35243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B: tablero por estado · Monitor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2896850" cy="8324850"/>
          </a:xfrm>
          <a:prstGeom prst="roundRect">
            <a:avLst>
              <a:gd name="adj" fmla="val 2059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9550" dist="5715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7250" y="1390650"/>
            <a:ext cx="12896850" cy="66040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1600200"/>
            <a:ext cx="19443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algn="l" indent="0" marL="0">
              <a:buNone/>
            </a:pPr>
            <a:r>
              <a:rPr lang="en-US" sz="16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</a:t>
            </a:r>
            <a:pPr algn="l" indent="0" marL="0">
              <a:buNone/>
            </a:pPr>
            <a:r>
              <a:rPr lang="en-US" sz="12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Comandas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763077" y="1628775"/>
            <a:ext cx="185484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de entrada ↑ arriba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123950" y="2351088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4D76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317750"/>
            <a:ext cx="9916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391867" y="2330450"/>
            <a:ext cx="20280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123950" y="2660650"/>
            <a:ext cx="6067425" cy="127000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2832100"/>
            <a:ext cx="92025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</a:t>
            </a:r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632972" y="2921000"/>
            <a:ext cx="4250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33500" y="3216275"/>
            <a:ext cx="228600" cy="228600"/>
          </a:xfrm>
          <a:prstGeom prst="roundRect">
            <a:avLst>
              <a:gd name="adj" fmla="val 20833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7350" y="3235325"/>
            <a:ext cx="9415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Corvina frita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33500" y="3530600"/>
            <a:ext cx="228600" cy="228600"/>
          </a:xfrm>
          <a:prstGeom prst="roundRect">
            <a:avLst>
              <a:gd name="adj" fmla="val 20833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7350" y="3549650"/>
            <a:ext cx="786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Patacones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23950" y="4064000"/>
            <a:ext cx="6067425" cy="1231900"/>
          </a:xfrm>
          <a:prstGeom prst="roundRect">
            <a:avLst>
              <a:gd name="adj" fmla="val 1082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4235450"/>
            <a:ext cx="9034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</a:t>
            </a:r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626027" y="4324350"/>
            <a:ext cx="4319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33500" y="4619625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383838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46196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19250" y="4619625"/>
            <a:ext cx="7774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Churrasco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33500" y="4895850"/>
            <a:ext cx="228600" cy="228600"/>
          </a:xfrm>
          <a:prstGeom prst="roundRect">
            <a:avLst>
              <a:gd name="adj" fmla="val 20833"/>
            </a:avLst>
          </a:prstGeom>
          <a:ln w="19050">
            <a:solidFill>
              <a:srgbClr val="CFC9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57350" y="4914900"/>
            <a:ext cx="10945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Arroz mariscos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19975" y="2351088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667625" y="2317750"/>
            <a:ext cx="4584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8154690" y="2330450"/>
            <a:ext cx="10939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avisa al cashier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7419975" y="2660650"/>
            <a:ext cx="6067425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25400">
            <a:solidFill>
              <a:srgbClr val="F4D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4925" y="2857500"/>
            <a:ext cx="92025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 </a:t>
            </a:r>
            <a:pPr algn="l" indent="0" marL="0">
              <a:buNone/>
            </a:pPr>
            <a:r>
              <a:rPr lang="en-US" sz="12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3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706350" y="2927350"/>
            <a:ext cx="546100" cy="222250"/>
          </a:xfrm>
          <a:prstGeom prst="roundRect">
            <a:avLst>
              <a:gd name="adj" fmla="val 42857"/>
            </a:avLst>
          </a:prstGeom>
          <a:solidFill>
            <a:srgbClr val="F4D761"/>
          </a:solidFill>
          <a:ln/>
        </p:spPr>
      </p:sp>
      <p:sp>
        <p:nvSpPr>
          <p:cNvPr id="33" name="Text 31"/>
          <p:cNvSpPr/>
          <p:nvPr/>
        </p:nvSpPr>
        <p:spPr>
          <a:xfrm>
            <a:off x="12801600" y="2965450"/>
            <a:ext cx="4318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654925" y="3254375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383838"/>
          </a:solidFill>
          <a:ln/>
        </p:spPr>
      </p:sp>
      <p:sp>
        <p:nvSpPr>
          <p:cNvPr id="35" name="Text 33"/>
          <p:cNvSpPr/>
          <p:nvPr/>
        </p:nvSpPr>
        <p:spPr>
          <a:xfrm>
            <a:off x="7616825" y="32543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40675" y="3254375"/>
            <a:ext cx="1033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Hamburguesa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54925" y="353060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383838"/>
          </a:solidFill>
          <a:ln/>
        </p:spPr>
      </p:sp>
      <p:sp>
        <p:nvSpPr>
          <p:cNvPr id="38" name="Text 36"/>
          <p:cNvSpPr/>
          <p:nvPr/>
        </p:nvSpPr>
        <p:spPr>
          <a:xfrm>
            <a:off x="7616825" y="35306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40675" y="3530600"/>
            <a:ext cx="495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rgbClr val="B6B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19975" y="4051300"/>
            <a:ext cx="6067425" cy="628650"/>
          </a:xfrm>
          <a:prstGeom prst="roundRect">
            <a:avLst>
              <a:gd name="adj" fmla="val 21212"/>
            </a:avLst>
          </a:prstGeom>
          <a:solidFill>
            <a:srgbClr val="FAFAFA"/>
          </a:solidFill>
          <a:ln w="12700">
            <a:solidFill>
              <a:srgbClr val="CFC9BA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551214" y="4273550"/>
            <a:ext cx="580494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confirmar entrega, la comanda completa desaparece del tablero.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 rot="72000">
            <a:off x="14039850" y="4090987"/>
            <a:ext cx="3390901" cy="2924176"/>
          </a:xfrm>
          <a:prstGeom prst="roundRect">
            <a:avLst>
              <a:gd name="adj" fmla="val 1954"/>
            </a:avLst>
          </a:prstGeom>
          <a:solidFill>
            <a:srgbClr val="ED9FBD"/>
          </a:solidFill>
          <a:ln/>
          <a:effectLst>
            <a:outerShdw sx="100000" sy="100000" kx="0" ky="0" algn="bl" rotWithShape="0" blurRad="13335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 rot="72000">
            <a:off x="14306550" y="4319587"/>
            <a:ext cx="2959228" cy="250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highlight>
                  <a:srgbClr val="ED9FB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Reglas de comanda: • Tachar plato = ya preparado (evita doble). • "Listo" saca TODOS los platos juntos. • Sistema de fila: primero en entrar, primero en mostrarse.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2168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Gestión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019425" y="679450"/>
            <a:ext cx="29829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Diario de ventas · Monitor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6573500" cy="83248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3600" y="1397000"/>
            <a:ext cx="1905000" cy="83121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7" name="Text 5"/>
          <p:cNvSpPr/>
          <p:nvPr/>
        </p:nvSpPr>
        <p:spPr>
          <a:xfrm>
            <a:off x="1073150" y="1625600"/>
            <a:ext cx="16764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algn="l" indent="0" marL="0">
              <a:buNone/>
            </a:pPr>
            <a:r>
              <a:rPr lang="en-US" sz="19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73150" y="1943100"/>
            <a:ext cx="15621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3150" y="2432050"/>
            <a:ext cx="156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3600" y="2755900"/>
            <a:ext cx="1905000" cy="44450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11" name="Shape 9"/>
          <p:cNvSpPr/>
          <p:nvPr/>
        </p:nvSpPr>
        <p:spPr>
          <a:xfrm>
            <a:off x="863600" y="2755900"/>
            <a:ext cx="38100" cy="444500"/>
          </a:xfrm>
          <a:prstGeom prst="rect">
            <a:avLst/>
          </a:prstGeom>
          <a:solidFill>
            <a:srgbClr val="F4D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11250" y="2889250"/>
            <a:ext cx="15240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3150" y="3333750"/>
            <a:ext cx="566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182" y="3349625"/>
            <a:ext cx="181868" cy="158750"/>
          </a:xfrm>
          <a:prstGeom prst="roundRect">
            <a:avLst>
              <a:gd name="adj" fmla="val 48000"/>
            </a:avLst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443857" y="3368675"/>
            <a:ext cx="12471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73150" y="3790950"/>
            <a:ext cx="156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68600" y="1397000"/>
            <a:ext cx="14655801" cy="8312150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18" name="Shape 16"/>
          <p:cNvSpPr/>
          <p:nvPr/>
        </p:nvSpPr>
        <p:spPr>
          <a:xfrm>
            <a:off x="2768600" y="1397000"/>
            <a:ext cx="14655801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68600" y="2209800"/>
            <a:ext cx="14655801" cy="9525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20" name="Text 18"/>
          <p:cNvSpPr/>
          <p:nvPr/>
        </p:nvSpPr>
        <p:spPr>
          <a:xfrm>
            <a:off x="3073400" y="1682750"/>
            <a:ext cx="166570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4531280" y="1616075"/>
            <a:ext cx="1498997" cy="374650"/>
          </a:xfrm>
          <a:prstGeom prst="roundRect">
            <a:avLst>
              <a:gd name="adj" fmla="val 25424"/>
            </a:avLst>
          </a:prstGeom>
          <a:solidFill>
            <a:srgbClr val="F4D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4683680" y="1720850"/>
            <a:ext cx="12703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 hoy 09–17h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6163627" y="1606550"/>
            <a:ext cx="955973" cy="393700"/>
          </a:xfrm>
          <a:prstGeom prst="roundRect">
            <a:avLst>
              <a:gd name="adj" fmla="val 24194"/>
            </a:avLst>
          </a:prstGeom>
          <a:ln w="6350">
            <a:solidFill>
              <a:srgbClr val="D9D4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322377" y="1717675"/>
            <a:ext cx="7146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▾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3073400" y="2444750"/>
            <a:ext cx="4069953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9300" y="2622550"/>
            <a:ext cx="40019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turno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89300" y="2825750"/>
            <a:ext cx="400196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7333854" y="2444750"/>
            <a:ext cx="4069953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9753" y="2622550"/>
            <a:ext cx="40019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turno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49753" y="2825750"/>
            <a:ext cx="400196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$842.50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1594306" y="2444750"/>
            <a:ext cx="5525294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10207" y="2622550"/>
            <a:ext cx="560284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 · Yappy · Tarjeta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810207" y="2825750"/>
            <a:ext cx="560284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$310 · $402 · $130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3073400" y="3606800"/>
            <a:ext cx="14046201" cy="5575300"/>
          </a:xfrm>
          <a:prstGeom prst="roundRect">
            <a:avLst>
              <a:gd name="adj" fmla="val 2221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79750" y="3613150"/>
            <a:ext cx="14033500" cy="41275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36" name="Text 34"/>
          <p:cNvSpPr/>
          <p:nvPr/>
        </p:nvSpPr>
        <p:spPr>
          <a:xfrm>
            <a:off x="3289300" y="3746500"/>
            <a:ext cx="180736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FACT.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4932363" y="3746500"/>
            <a:ext cx="206559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810177" y="3746500"/>
            <a:ext cx="258204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157494" y="3746500"/>
            <a:ext cx="361484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PAGO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2443718" y="3746500"/>
            <a:ext cx="23239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4321662" y="3746500"/>
            <a:ext cx="258194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spc="30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3079750" y="4025900"/>
            <a:ext cx="14033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43" name="Text 41"/>
          <p:cNvSpPr/>
          <p:nvPr/>
        </p:nvSpPr>
        <p:spPr>
          <a:xfrm>
            <a:off x="3289300" y="4191000"/>
            <a:ext cx="18073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#0142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2363" y="4184650"/>
            <a:ext cx="2065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10177" y="4184650"/>
            <a:ext cx="2582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57494" y="4184650"/>
            <a:ext cx="950516" cy="215900"/>
          </a:xfrm>
          <a:prstGeom prst="roundRect">
            <a:avLst>
              <a:gd name="adj" fmla="val 44118"/>
            </a:avLst>
          </a:prstGeom>
          <a:solidFill>
            <a:srgbClr val="FDF7D6"/>
          </a:solidFill>
          <a:ln/>
        </p:spPr>
      </p:sp>
      <p:sp>
        <p:nvSpPr>
          <p:cNvPr id="47" name="Text 45"/>
          <p:cNvSpPr/>
          <p:nvPr/>
        </p:nvSpPr>
        <p:spPr>
          <a:xfrm>
            <a:off x="9262269" y="4222750"/>
            <a:ext cx="81716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4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Yappy · Rest.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2443718" y="4191000"/>
            <a:ext cx="23239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$31.00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321662" y="4203700"/>
            <a:ext cx="2581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Imprimir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79750" y="4527550"/>
            <a:ext cx="14033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1" name="Text 49"/>
          <p:cNvSpPr/>
          <p:nvPr/>
        </p:nvSpPr>
        <p:spPr>
          <a:xfrm>
            <a:off x="3289300" y="4692650"/>
            <a:ext cx="18073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#0141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32363" y="4686300"/>
            <a:ext cx="2065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10177" y="4686300"/>
            <a:ext cx="2582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57494" y="4686300"/>
            <a:ext cx="650081" cy="215900"/>
          </a:xfrm>
          <a:prstGeom prst="roundRect">
            <a:avLst>
              <a:gd name="adj" fmla="val 44118"/>
            </a:avLst>
          </a:prstGeom>
          <a:solidFill>
            <a:srgbClr val="E8F0E8"/>
          </a:solidFill>
          <a:ln/>
        </p:spPr>
      </p:sp>
      <p:sp>
        <p:nvSpPr>
          <p:cNvPr id="55" name="Text 53"/>
          <p:cNvSpPr/>
          <p:nvPr/>
        </p:nvSpPr>
        <p:spPr>
          <a:xfrm>
            <a:off x="9262269" y="4724400"/>
            <a:ext cx="5167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12443718" y="4692650"/>
            <a:ext cx="23239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$12.00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4321662" y="4705350"/>
            <a:ext cx="2581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Imprimir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079750" y="5029200"/>
            <a:ext cx="14033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59" name="Text 57"/>
          <p:cNvSpPr/>
          <p:nvPr/>
        </p:nvSpPr>
        <p:spPr>
          <a:xfrm>
            <a:off x="3289300" y="5194300"/>
            <a:ext cx="18073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#0140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932363" y="5187950"/>
            <a:ext cx="2065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09:37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810177" y="5187950"/>
            <a:ext cx="2582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6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157494" y="5187950"/>
            <a:ext cx="581223" cy="215900"/>
          </a:xfrm>
          <a:prstGeom prst="roundRect">
            <a:avLst>
              <a:gd name="adj" fmla="val 44118"/>
            </a:avLst>
          </a:prstGeom>
          <a:solidFill>
            <a:srgbClr val="EAE6F4"/>
          </a:solidFill>
          <a:ln/>
        </p:spPr>
      </p:sp>
      <p:sp>
        <p:nvSpPr>
          <p:cNvPr id="63" name="Text 61"/>
          <p:cNvSpPr/>
          <p:nvPr/>
        </p:nvSpPr>
        <p:spPr>
          <a:xfrm>
            <a:off x="9262269" y="5226050"/>
            <a:ext cx="447873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12443718" y="5194300"/>
            <a:ext cx="23239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$48.00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4321662" y="5207000"/>
            <a:ext cx="2581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Imprimir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079750" y="5530850"/>
            <a:ext cx="14033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7" name="Text 65"/>
          <p:cNvSpPr/>
          <p:nvPr/>
        </p:nvSpPr>
        <p:spPr>
          <a:xfrm>
            <a:off x="3289300" y="5695950"/>
            <a:ext cx="18073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#0139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932363" y="5689600"/>
            <a:ext cx="2065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810177" y="5689600"/>
            <a:ext cx="2582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157494" y="5689600"/>
            <a:ext cx="854273" cy="215900"/>
          </a:xfrm>
          <a:prstGeom prst="roundRect">
            <a:avLst>
              <a:gd name="adj" fmla="val 44118"/>
            </a:avLst>
          </a:prstGeom>
          <a:solidFill>
            <a:srgbClr val="FDF7D6"/>
          </a:solidFill>
          <a:ln/>
        </p:spPr>
      </p:sp>
      <p:sp>
        <p:nvSpPr>
          <p:cNvPr id="71" name="Text 69"/>
          <p:cNvSpPr/>
          <p:nvPr/>
        </p:nvSpPr>
        <p:spPr>
          <a:xfrm>
            <a:off x="9262269" y="5727700"/>
            <a:ext cx="720923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4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Yappy · Bar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12443718" y="5695950"/>
            <a:ext cx="23239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$22.50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4321662" y="5708650"/>
            <a:ext cx="2581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Imprimir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079750" y="6032500"/>
            <a:ext cx="1403350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5" name="Text 73"/>
          <p:cNvSpPr/>
          <p:nvPr/>
        </p:nvSpPr>
        <p:spPr>
          <a:xfrm>
            <a:off x="3289300" y="6197600"/>
            <a:ext cx="18073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#0138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932363" y="6191250"/>
            <a:ext cx="2065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10177" y="6191250"/>
            <a:ext cx="2582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57494" y="6191250"/>
            <a:ext cx="650081" cy="215900"/>
          </a:xfrm>
          <a:prstGeom prst="roundRect">
            <a:avLst>
              <a:gd name="adj" fmla="val 44118"/>
            </a:avLst>
          </a:prstGeom>
          <a:solidFill>
            <a:srgbClr val="E8F0E8"/>
          </a:solidFill>
          <a:ln/>
        </p:spPr>
      </p:sp>
      <p:sp>
        <p:nvSpPr>
          <p:cNvPr id="79" name="Text 77"/>
          <p:cNvSpPr/>
          <p:nvPr/>
        </p:nvSpPr>
        <p:spPr>
          <a:xfrm>
            <a:off x="9262269" y="6229350"/>
            <a:ext cx="5167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12443718" y="6197600"/>
            <a:ext cx="23239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$18.50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4321662" y="6210300"/>
            <a:ext cx="2581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· Imprimir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3073400" y="9315450"/>
            <a:ext cx="154508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Yappy se diferencia por departamento (Rest. / Bar), igual que efectivo y otros métodos.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71500"/>
            <a:ext cx="2168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Gestión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019425" y="679450"/>
            <a:ext cx="33545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Secciones · Bar / Restaurante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1066800"/>
            <a:ext cx="16573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" y="1390650"/>
            <a:ext cx="16573500" cy="83248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  <a:effectLst>
            <a:outerShdw sx="100000" sy="100000" kx="0" ky="0" algn="bl" rotWithShape="0" blurRad="209550" dist="571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3600" y="1397000"/>
            <a:ext cx="2095500" cy="83121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7" name="Text 5"/>
          <p:cNvSpPr/>
          <p:nvPr/>
        </p:nvSpPr>
        <p:spPr>
          <a:xfrm>
            <a:off x="1073150" y="1625600"/>
            <a:ext cx="1885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algn="l" indent="0" marL="0">
              <a:buNone/>
            </a:pPr>
            <a:r>
              <a:rPr lang="en-US" sz="1950" b="1" dirty="0">
                <a:solidFill>
                  <a:srgbClr val="F4D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73150" y="1943100"/>
            <a:ext cx="17526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3150" y="2355850"/>
            <a:ext cx="4254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2567682" y="2355850"/>
            <a:ext cx="181868" cy="184150"/>
          </a:xfrm>
          <a:prstGeom prst="roundRect">
            <a:avLst>
              <a:gd name="adj" fmla="val 41899"/>
            </a:avLst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2634357" y="2374900"/>
            <a:ext cx="1247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73150" y="2730500"/>
            <a:ext cx="72479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567682" y="2730500"/>
            <a:ext cx="181868" cy="184150"/>
          </a:xfrm>
          <a:prstGeom prst="roundRect">
            <a:avLst>
              <a:gd name="adj" fmla="val 41899"/>
            </a:avLst>
          </a:pr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634357" y="2749550"/>
            <a:ext cx="1247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73150" y="3105150"/>
            <a:ext cx="65861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2567682" y="3105150"/>
            <a:ext cx="181868" cy="184150"/>
          </a:xfrm>
          <a:prstGeom prst="roundRect">
            <a:avLst>
              <a:gd name="adj" fmla="val 41899"/>
            </a:avLst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634357" y="3124200"/>
            <a:ext cx="1247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3150" y="3479800"/>
            <a:ext cx="1752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73150" y="3854450"/>
            <a:ext cx="1752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863600" y="4267200"/>
            <a:ext cx="2095500" cy="3302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73150" y="4419600"/>
            <a:ext cx="17526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5" kern="0" dirty="0">
                <a:solidFill>
                  <a:srgbClr val="74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863600" y="4597400"/>
            <a:ext cx="2095500" cy="37465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3" name="Text 21"/>
          <p:cNvSpPr/>
          <p:nvPr/>
        </p:nvSpPr>
        <p:spPr>
          <a:xfrm>
            <a:off x="1073150" y="4692650"/>
            <a:ext cx="63847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2567682" y="4692650"/>
            <a:ext cx="181868" cy="184150"/>
          </a:xfrm>
          <a:prstGeom prst="roundRect">
            <a:avLst>
              <a:gd name="adj" fmla="val 41899"/>
            </a:avLst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634357" y="4711700"/>
            <a:ext cx="1247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63600" y="4972050"/>
            <a:ext cx="2095500" cy="37465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3150" y="5067300"/>
            <a:ext cx="47863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Mesas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2567682" y="5067300"/>
            <a:ext cx="181868" cy="184150"/>
          </a:xfrm>
          <a:prstGeom prst="roundRect">
            <a:avLst>
              <a:gd name="adj" fmla="val 41899"/>
            </a:avLst>
          </a:pr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2634357" y="5086350"/>
            <a:ext cx="1247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3600" y="5346700"/>
            <a:ext cx="2095500" cy="42545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31" name="Shape 29"/>
          <p:cNvSpPr/>
          <p:nvPr/>
        </p:nvSpPr>
        <p:spPr>
          <a:xfrm>
            <a:off x="863600" y="5346700"/>
            <a:ext cx="38100" cy="425450"/>
          </a:xfrm>
          <a:prstGeom prst="rect">
            <a:avLst/>
          </a:prstGeom>
          <a:solidFill>
            <a:srgbClr val="F4D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111250" y="5470525"/>
            <a:ext cx="17145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59100" y="1397000"/>
            <a:ext cx="14465301" cy="8312150"/>
          </a:xfrm>
          <a:prstGeom prst="rect">
            <a:avLst/>
          </a:prstGeom>
          <a:solidFill>
            <a:srgbClr val="FFF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2959100" y="1397000"/>
            <a:ext cx="14465301" cy="819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959100" y="2209800"/>
            <a:ext cx="14465301" cy="9525"/>
          </a:xfrm>
          <a:prstGeom prst="rect">
            <a:avLst/>
          </a:prstGeom>
          <a:solidFill>
            <a:srgbClr val="ECE8DC"/>
          </a:solidFill>
          <a:ln/>
        </p:spPr>
      </p:sp>
      <p:sp>
        <p:nvSpPr>
          <p:cNvPr id="36" name="Text 34"/>
          <p:cNvSpPr/>
          <p:nvPr/>
        </p:nvSpPr>
        <p:spPr>
          <a:xfrm>
            <a:off x="3263900" y="1682750"/>
            <a:ext cx="104308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716350" y="1606550"/>
            <a:ext cx="1403251" cy="393700"/>
          </a:xfrm>
          <a:prstGeom prst="roundRect">
            <a:avLst>
              <a:gd name="adj" fmla="val 26613"/>
            </a:avLst>
          </a:prstGeom>
          <a:solidFill>
            <a:srgbClr val="E70C88"/>
          </a:solidFill>
          <a:ln/>
        </p:spPr>
      </p:sp>
      <p:sp>
        <p:nvSpPr>
          <p:cNvPr id="38" name="Text 36"/>
          <p:cNvSpPr/>
          <p:nvPr/>
        </p:nvSpPr>
        <p:spPr>
          <a:xfrm>
            <a:off x="15887800" y="1720850"/>
            <a:ext cx="113655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Nueva sección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3263900" y="2520950"/>
            <a:ext cx="6813550" cy="6883400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70250" y="2527300"/>
            <a:ext cx="6800850" cy="58420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41" name="Text 39"/>
          <p:cNvSpPr/>
          <p:nvPr/>
        </p:nvSpPr>
        <p:spPr>
          <a:xfrm>
            <a:off x="3498850" y="2698750"/>
            <a:ext cx="121781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476383" y="2736850"/>
            <a:ext cx="4423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D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517900" y="3321050"/>
            <a:ext cx="693610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3517900" y="3581400"/>
            <a:ext cx="955477" cy="330200"/>
          </a:xfrm>
          <a:prstGeom prst="roundRect">
            <a:avLst>
              <a:gd name="adj" fmla="val 50000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6650" y="3654425"/>
            <a:ext cx="71417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4559102" y="3581400"/>
            <a:ext cx="1306711" cy="330200"/>
          </a:xfrm>
          <a:prstGeom prst="roundRect">
            <a:avLst>
              <a:gd name="adj" fmla="val 50000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7852" y="3654425"/>
            <a:ext cx="106541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No Alc.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5951538" y="3581400"/>
            <a:ext cx="683022" cy="330200"/>
          </a:xfrm>
          <a:prstGeom prst="roundRect">
            <a:avLst>
              <a:gd name="adj" fmla="val 50000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10288" y="3654425"/>
            <a:ext cx="4417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6720285" y="3581400"/>
            <a:ext cx="1070372" cy="330200"/>
          </a:xfrm>
          <a:prstGeom prst="roundRect">
            <a:avLst>
              <a:gd name="adj" fmla="val 50000"/>
            </a:avLst>
          </a:prstGeom>
          <a:ln w="6350">
            <a:solidFill>
              <a:srgbClr val="CFC9BA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6879035" y="3654425"/>
            <a:ext cx="82907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Categoría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3517900" y="4140200"/>
            <a:ext cx="693610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ASIGNADOS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3517900" y="4400550"/>
            <a:ext cx="342900" cy="342900"/>
          </a:xfrm>
          <a:prstGeom prst="ellipse">
            <a:avLst/>
          </a:prstGeom>
          <a:solidFill>
            <a:srgbClr val="F4D761"/>
          </a:solidFill>
          <a:ln/>
        </p:spPr>
      </p:sp>
      <p:sp>
        <p:nvSpPr>
          <p:cNvPr id="54" name="Text 52"/>
          <p:cNvSpPr/>
          <p:nvPr/>
        </p:nvSpPr>
        <p:spPr>
          <a:xfrm>
            <a:off x="3479800" y="44005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975100" y="4476750"/>
            <a:ext cx="1163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M. · Cashier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17900" y="4838700"/>
            <a:ext cx="342900" cy="342900"/>
          </a:xfrm>
          <a:prstGeom prst="ellipse">
            <a:avLst/>
          </a:prstGeom>
          <a:solidFill>
            <a:srgbClr val="ED9FBD"/>
          </a:solidFill>
          <a:ln/>
        </p:spPr>
      </p:sp>
      <p:sp>
        <p:nvSpPr>
          <p:cNvPr id="57" name="Text 55"/>
          <p:cNvSpPr/>
          <p:nvPr/>
        </p:nvSpPr>
        <p:spPr>
          <a:xfrm>
            <a:off x="3479800" y="48387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975100" y="4914900"/>
            <a:ext cx="11594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R. · Cashier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70250" y="8921750"/>
            <a:ext cx="680085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60" name="Text 58"/>
          <p:cNvSpPr/>
          <p:nvPr/>
        </p:nvSpPr>
        <p:spPr>
          <a:xfrm>
            <a:off x="3517900" y="9080500"/>
            <a:ext cx="65095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Asignar usuario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0306050" y="2520950"/>
            <a:ext cx="6813550" cy="6883400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6350">
            <a:solidFill>
              <a:srgbClr val="ECE8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12401" y="2527300"/>
            <a:ext cx="6800850" cy="58420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63" name="Text 61"/>
          <p:cNvSpPr/>
          <p:nvPr/>
        </p:nvSpPr>
        <p:spPr>
          <a:xfrm>
            <a:off x="10541001" y="2698750"/>
            <a:ext cx="40233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6518534" y="2736850"/>
            <a:ext cx="4423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560051" y="3321050"/>
            <a:ext cx="693610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0560051" y="3581400"/>
            <a:ext cx="1095177" cy="330200"/>
          </a:xfrm>
          <a:prstGeom prst="roundRect">
            <a:avLst>
              <a:gd name="adj" fmla="val 50000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18801" y="3654425"/>
            <a:ext cx="85387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Alc.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11740952" y="3581400"/>
            <a:ext cx="861219" cy="330200"/>
          </a:xfrm>
          <a:prstGeom prst="roundRect">
            <a:avLst>
              <a:gd name="adj" fmla="val 50000"/>
            </a:avLst>
          </a:prstGeom>
          <a:solidFill>
            <a:srgbClr val="FFF8D9"/>
          </a:solidFill>
          <a:ln w="6350">
            <a:solidFill>
              <a:srgbClr val="E3DE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899702" y="3654425"/>
            <a:ext cx="61991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Cócteles</a:t>
            </a:r>
            <a:endParaRPr lang="en-US" sz="1125" dirty="0"/>
          </a:p>
        </p:txBody>
      </p:sp>
      <p:sp>
        <p:nvSpPr>
          <p:cNvPr id="70" name="Shape 68"/>
          <p:cNvSpPr/>
          <p:nvPr/>
        </p:nvSpPr>
        <p:spPr>
          <a:xfrm>
            <a:off x="12687895" y="3581400"/>
            <a:ext cx="1070372" cy="330200"/>
          </a:xfrm>
          <a:prstGeom prst="roundRect">
            <a:avLst>
              <a:gd name="adj" fmla="val 50000"/>
            </a:avLst>
          </a:prstGeom>
          <a:ln w="6350">
            <a:solidFill>
              <a:srgbClr val="CFC9BA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12846645" y="3654425"/>
            <a:ext cx="82907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Categoría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10560051" y="4140200"/>
            <a:ext cx="693610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ASIGNADOS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10560051" y="4400550"/>
            <a:ext cx="342900" cy="342900"/>
          </a:xfrm>
          <a:prstGeom prst="ellipse">
            <a:avLst/>
          </a:prstGeom>
          <a:solidFill>
            <a:srgbClr val="E26661"/>
          </a:solidFill>
          <a:ln/>
        </p:spPr>
      </p:sp>
      <p:sp>
        <p:nvSpPr>
          <p:cNvPr id="74" name="Text 72"/>
          <p:cNvSpPr/>
          <p:nvPr/>
        </p:nvSpPr>
        <p:spPr>
          <a:xfrm>
            <a:off x="10521951" y="440055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1017251" y="4476750"/>
            <a:ext cx="10979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F. · Cashier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312401" y="8921750"/>
            <a:ext cx="6800850" cy="9525"/>
          </a:xfrm>
          <a:prstGeom prst="rect">
            <a:avLst/>
          </a:prstGeom>
          <a:solidFill>
            <a:srgbClr val="F0EDE3"/>
          </a:solidFill>
          <a:ln/>
        </p:spPr>
      </p:sp>
      <p:sp>
        <p:nvSpPr>
          <p:cNvPr id="77" name="Text 75"/>
          <p:cNvSpPr/>
          <p:nvPr/>
        </p:nvSpPr>
        <p:spPr>
          <a:xfrm>
            <a:off x="10560051" y="9080500"/>
            <a:ext cx="65095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Asignar usuario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6514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Flujo y jerarquía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557713" y="965200"/>
            <a:ext cx="39813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End-to-end flow &amp; menu hierarchy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352550"/>
            <a:ext cx="16192500" cy="38100"/>
          </a:xfrm>
          <a:prstGeom prst="roundRect">
            <a:avLst>
              <a:gd name="adj" fmla="val 50000"/>
            </a:avLst>
          </a:prstGeom>
          <a:solidFill>
            <a:srgbClr val="E70C8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117975"/>
            <a:ext cx="178117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13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 · MAIN FLOW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47750" y="4543425"/>
            <a:ext cx="940296" cy="565150"/>
          </a:xfrm>
          <a:prstGeom prst="roundRect">
            <a:avLst>
              <a:gd name="adj" fmla="val 23596"/>
            </a:avLst>
          </a:prstGeom>
          <a:solidFill>
            <a:srgbClr val="FFFFFF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8100" y="4727575"/>
            <a:ext cx="49579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21396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521446" y="4546600"/>
            <a:ext cx="792956" cy="558800"/>
          </a:xfrm>
          <a:prstGeom prst="roundRect">
            <a:avLst>
              <a:gd name="adj" fmla="val 23864"/>
            </a:avLst>
          </a:prstGeom>
          <a:solidFill>
            <a:srgbClr val="FFFFFF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1796" y="4730750"/>
            <a:ext cx="3484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752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847802" y="4556125"/>
            <a:ext cx="1152922" cy="539750"/>
          </a:xfrm>
          <a:prstGeom prst="roundRect">
            <a:avLst>
              <a:gd name="adj" fmla="val 24706"/>
            </a:avLst>
          </a:prstGeom>
          <a:solidFill>
            <a:srgbClr val="E70C88"/>
          </a:solidFill>
          <a:ln/>
        </p:spPr>
      </p:sp>
      <p:sp>
        <p:nvSpPr>
          <p:cNvPr id="13" name="Text 11"/>
          <p:cNvSpPr/>
          <p:nvPr/>
        </p:nvSpPr>
        <p:spPr>
          <a:xfrm>
            <a:off x="4095452" y="4727575"/>
            <a:ext cx="73382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34074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534124" y="4546600"/>
            <a:ext cx="2017018" cy="558800"/>
          </a:xfrm>
          <a:prstGeom prst="roundRect">
            <a:avLst>
              <a:gd name="adj" fmla="val 23864"/>
            </a:avLst>
          </a:prstGeom>
          <a:solidFill>
            <a:srgbClr val="FFFFFF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4474" y="4730750"/>
            <a:ext cx="15725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Pedido rápido </a:t>
            </a:r>
            <a:pPr algn="l" indent="0" marL="0">
              <a:buNone/>
            </a:pPr>
            <a:r>
              <a:rPr lang="en-US" sz="12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pPr algn="l" indent="0" marL="0">
              <a:buNone/>
            </a:pPr>
            <a:r>
              <a:rPr lang="en-US" sz="1200" dirty="0">
                <a:solidFill>
                  <a:srgbClr val="383838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Mesas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4493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084543" y="4556125"/>
            <a:ext cx="1667570" cy="539750"/>
          </a:xfrm>
          <a:prstGeom prst="roundRect">
            <a:avLst>
              <a:gd name="adj" fmla="val 24706"/>
            </a:avLst>
          </a:prstGeom>
          <a:solidFill>
            <a:srgbClr val="383838"/>
          </a:solidFill>
          <a:ln/>
        </p:spPr>
      </p:sp>
      <p:sp>
        <p:nvSpPr>
          <p:cNvPr id="19" name="Text 17"/>
          <p:cNvSpPr/>
          <p:nvPr/>
        </p:nvSpPr>
        <p:spPr>
          <a:xfrm>
            <a:off x="8332193" y="4727575"/>
            <a:ext cx="124847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a cocina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885462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285512" y="4556125"/>
            <a:ext cx="1960662" cy="539750"/>
          </a:xfrm>
          <a:prstGeom prst="roundRect">
            <a:avLst>
              <a:gd name="adj" fmla="val 24706"/>
            </a:avLst>
          </a:prstGeom>
          <a:solidFill>
            <a:srgbClr val="F4D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33162" y="4727575"/>
            <a:ext cx="154156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Comandas · "Listo"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79523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779573" y="4556125"/>
            <a:ext cx="1019373" cy="539750"/>
          </a:xfrm>
          <a:prstGeom prst="roundRect">
            <a:avLst>
              <a:gd name="adj" fmla="val 24706"/>
            </a:avLst>
          </a:prstGeom>
          <a:solidFill>
            <a:srgbClr val="E70C88"/>
          </a:solidFill>
          <a:ln/>
        </p:spPr>
      </p:sp>
      <p:sp>
        <p:nvSpPr>
          <p:cNvPr id="25" name="Text 23"/>
          <p:cNvSpPr/>
          <p:nvPr/>
        </p:nvSpPr>
        <p:spPr>
          <a:xfrm>
            <a:off x="13027223" y="4727575"/>
            <a:ext cx="6002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32297" y="46736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332347" y="4543425"/>
            <a:ext cx="1759645" cy="565150"/>
          </a:xfrm>
          <a:prstGeom prst="roundRect">
            <a:avLst>
              <a:gd name="adj" fmla="val 23596"/>
            </a:avLst>
          </a:prstGeom>
          <a:solidFill>
            <a:srgbClr val="FFFFFF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592697" y="4727575"/>
            <a:ext cx="131514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de ventas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47750" y="5680075"/>
            <a:ext cx="178117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13" kern="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DEL MENÚ · MENU HIERARCHY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47750" y="6124575"/>
            <a:ext cx="1317030" cy="584200"/>
          </a:xfrm>
          <a:prstGeom prst="roundRect">
            <a:avLst>
              <a:gd name="adj" fmla="val 22826"/>
            </a:avLst>
          </a:prstGeom>
          <a:solidFill>
            <a:srgbClr val="383838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" y="6296025"/>
            <a:ext cx="82173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2536230" y="62642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2974380" y="6124575"/>
            <a:ext cx="1491853" cy="584200"/>
          </a:xfrm>
          <a:prstGeom prst="roundRect">
            <a:avLst>
              <a:gd name="adj" fmla="val 22826"/>
            </a:avLst>
          </a:prstGeom>
          <a:solidFill>
            <a:srgbClr val="E70C88"/>
          </a:solidFill>
          <a:ln/>
        </p:spPr>
      </p:sp>
      <p:sp>
        <p:nvSpPr>
          <p:cNvPr id="34" name="Text 32"/>
          <p:cNvSpPr/>
          <p:nvPr/>
        </p:nvSpPr>
        <p:spPr>
          <a:xfrm>
            <a:off x="3260130" y="6296025"/>
            <a:ext cx="99655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637683" y="62642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5075833" y="6124575"/>
            <a:ext cx="1887934" cy="584200"/>
          </a:xfrm>
          <a:prstGeom prst="roundRect">
            <a:avLst>
              <a:gd name="adj" fmla="val 22826"/>
            </a:avLst>
          </a:prstGeom>
          <a:solidFill>
            <a:srgbClr val="F4D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361583" y="6296025"/>
            <a:ext cx="139263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Sub-categoría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135217" y="62642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0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7573367" y="6105525"/>
            <a:ext cx="1448395" cy="6223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78167" y="6296025"/>
            <a:ext cx="91499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47750" y="6937375"/>
            <a:ext cx="178117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</a:t>
            </a:r>
            <a:pPr algn="l" indent="0" marL="0">
              <a:buNone/>
            </a:pPr>
            <a:r>
              <a:rPr lang="en-US" sz="15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→ Alimentos → Mariscos → Corvina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 rot="90000">
            <a:off x="14039851" y="7685882"/>
            <a:ext cx="3390899" cy="1743074"/>
          </a:xfrm>
          <a:prstGeom prst="roundRect">
            <a:avLst>
              <a:gd name="adj" fmla="val 3279"/>
            </a:avLst>
          </a:prstGeom>
          <a:solidFill>
            <a:srgbClr val="ED9FBD"/>
          </a:solidFill>
          <a:ln/>
          <a:effectLst>
            <a:outerShdw sx="100000" sy="100000" kx="0" ky="0" algn="bl" rotWithShape="0" blurRad="13335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290188" y="7876508"/>
            <a:ext cx="2976930" cy="1399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Next: validar copy bilingüe y revisar layout con cashiers reales.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2026-07-07T15:33:12Z</dcterms:created>
  <dcterms:modified xsi:type="dcterms:W3CDTF">2026-07-07T15:33:12Z</dcterms:modified>
</cp:coreProperties>
</file>